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40"/>
  </p:notesMasterIdLst>
  <p:handoutMasterIdLst>
    <p:handoutMasterId r:id="rId41"/>
  </p:handoutMasterIdLst>
  <p:sldIdLst>
    <p:sldId id="256" r:id="rId3"/>
    <p:sldId id="260" r:id="rId4"/>
    <p:sldId id="285" r:id="rId5"/>
    <p:sldId id="288" r:id="rId6"/>
    <p:sldId id="270" r:id="rId7"/>
    <p:sldId id="286" r:id="rId8"/>
    <p:sldId id="287" r:id="rId9"/>
    <p:sldId id="293" r:id="rId10"/>
    <p:sldId id="294" r:id="rId11"/>
    <p:sldId id="289" r:id="rId12"/>
    <p:sldId id="296" r:id="rId13"/>
    <p:sldId id="298" r:id="rId14"/>
    <p:sldId id="299" r:id="rId15"/>
    <p:sldId id="300" r:id="rId16"/>
    <p:sldId id="267" r:id="rId17"/>
    <p:sldId id="261" r:id="rId18"/>
    <p:sldId id="269" r:id="rId19"/>
    <p:sldId id="268" r:id="rId20"/>
    <p:sldId id="266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90" r:id="rId29"/>
    <p:sldId id="292" r:id="rId30"/>
    <p:sldId id="280" r:id="rId31"/>
    <p:sldId id="291" r:id="rId32"/>
    <p:sldId id="295" r:id="rId33"/>
    <p:sldId id="297" r:id="rId34"/>
    <p:sldId id="284" r:id="rId35"/>
    <p:sldId id="282" r:id="rId36"/>
    <p:sldId id="283" r:id="rId37"/>
    <p:sldId id="281" r:id="rId38"/>
    <p:sldId id="272" r:id="rId39"/>
  </p:sldIdLst>
  <p:sldSz cx="9144000" cy="5145088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6BD3"/>
    <a:srgbClr val="75FFBA"/>
    <a:srgbClr val="FF9F9F"/>
    <a:srgbClr val="000000"/>
    <a:srgbClr val="C9A6E4"/>
    <a:srgbClr val="D9D9D9"/>
    <a:srgbClr val="D0EFD2"/>
    <a:srgbClr val="FFD9D9"/>
    <a:srgbClr val="D1B2E8"/>
    <a:srgbClr val="E4D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48" autoAdjust="0"/>
  </p:normalViewPr>
  <p:slideViewPr>
    <p:cSldViewPr>
      <p:cViewPr>
        <p:scale>
          <a:sx n="75" d="100"/>
          <a:sy n="75" d="100"/>
        </p:scale>
        <p:origin x="1260" y="4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4496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ru-RU" alt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E8A56E47-2E6A-4370-BFD2-60CC4C37914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67550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11093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96607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4873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0976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70609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95230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71131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356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7813" y="2357438"/>
            <a:ext cx="6048375" cy="1135062"/>
          </a:xfrm>
          <a:ln>
            <a:noFill/>
          </a:ln>
          <a:effectLst/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altLang="ru-RU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3851275"/>
            <a:ext cx="6048375" cy="377825"/>
          </a:xfrm>
          <a:ln>
            <a:noFill/>
          </a:ln>
          <a:effectLst/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altLang="ru-RU" noProof="0" dirty="0" err="1"/>
              <a:t>Click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to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edit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Master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subtitle</a:t>
            </a:r>
            <a:r>
              <a:rPr lang="ru-RU" altLang="ru-RU" noProof="0" dirty="0"/>
              <a:t> </a:t>
            </a:r>
            <a:r>
              <a:rPr lang="ru-RU" altLang="ru-RU" noProof="0" dirty="0" err="1"/>
              <a:t>style</a:t>
            </a:r>
            <a:endParaRPr lang="ru-RU" altLang="ru-RU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55A952-1E05-4517-A1CA-5009BFFACC78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FAFE3-35D7-49A6-B048-714EDBCA669A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72455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EA1B52-7A5E-45DE-8B87-2D389FE25116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86BC35-6093-41AE-A84C-AB6DB173F06C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60477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347788"/>
            <a:ext cx="4027487" cy="2917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7788"/>
            <a:ext cx="4027488" cy="2917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526754-6242-40DE-A97B-37A0B6FDAB44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66538-1AAD-47AA-AE8D-69198B7FBC9A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4047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51DAE0-E100-4097-B816-5DFBB86B3C0D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E654B-5119-4878-AEF8-AC4C1E1EE5B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8460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7E15F8-BA4B-4CC4-8C7C-71106F09459E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E075F-927D-4F9C-82E8-2B930B4B5C2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12319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04282A-5DD0-482F-88B9-55BB5CDECD7D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72007-23D8-4FD1-AF19-1FF3D2BA4796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81899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EEC511-AA69-4B55-8790-97D4FE795232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F210A2-15E0-4736-8255-94735683A2D5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30917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B919E8-4A5A-472B-A852-74F96C82C95E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54645C-7C3A-44A4-A311-9FC3247ABA17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82238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7F3533-20D2-410C-93FD-A7C82EF03021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78A19A-B1B5-4872-BD61-D75A36576772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82637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8288"/>
            <a:ext cx="2051050" cy="3997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8288"/>
            <a:ext cx="6003925" cy="3997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012D5B-DFE9-401E-B8FE-221C8C4CBE2A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D0320-11DD-4ED4-AD13-2C84CFAA9A87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17061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33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6238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8FFD4C-7C56-41BE-B693-9F9CE9820561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5E9FA-52B1-43D7-9A0A-3DC8C9C9212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7209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829D80-F4CF-4580-BF5C-3DB5B3AFC968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A16E2-EEEA-4C65-930C-B260DDA053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0148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6763"/>
            <a:ext cx="7772400" cy="10207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1225"/>
            <a:ext cx="7772400" cy="11255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59EFA55-C42F-4647-85FF-D583DF54F250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ADBDB9-708D-42F9-A5E0-79635382616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9925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204913"/>
            <a:ext cx="3600450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763" y="1204913"/>
            <a:ext cx="3602037" cy="3395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91AD0A-C18E-4515-9B00-B54E30120750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D7816-22C3-41E1-BE37-7D1C66BA528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8075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C3980C-59D6-4494-BB77-4E078A86FC10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102D1-4F79-401E-977B-797508E8862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45559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9C1762-824C-447A-9F72-965EF4E61C6A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1EA2-279D-4457-A779-132FB621DCF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92572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22563B-29E4-4156-8520-0B4B78497913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0CCE9-18A6-456F-B0A3-98B08B68E5D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1004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9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9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7188A2-EA52-4E4A-B3B8-2DBB7910808E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C9EAB-D4F2-4CCC-95B7-D09553F846A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63402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2038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7488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FA9252-C2E7-4FDB-A8C2-EF8C207724C8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428D2-3CCD-4CE4-921C-0D0F596FD8B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8780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402630-9A67-4A7C-B169-22C8D4310E1D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754F3-2D2A-427C-9D5B-4F5C99E6D4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2624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8475" y="196850"/>
            <a:ext cx="1838325" cy="4403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1913" y="196850"/>
            <a:ext cx="5364162" cy="4403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DE9E10-13E6-442B-8811-946EB2C61485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6076C8-A096-4B12-8194-E8B31EB8ACE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055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8288"/>
            <a:ext cx="82073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7788"/>
            <a:ext cx="8207375" cy="291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838700"/>
            <a:ext cx="21336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fld id="{8CA22D57-8CF9-417E-A9FB-F35F9576EFC8}" type="datetime1">
              <a:rPr lang="en-US" altLang="ru-RU" smtClean="0"/>
              <a:t>4/26/2025</a:t>
            </a:fld>
            <a:endParaRPr lang="en-GB" altLang="ru-RU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838700"/>
            <a:ext cx="2895600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altLang="ru-RU"/>
              <a:t>Designed by PoweredTemplate.com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38700"/>
            <a:ext cx="2122488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fld id="{D2BD5148-E8F3-47AB-9897-5D068E0BE35A}" type="slidenum">
              <a:rPr lang="en-GB" altLang="ru-RU" smtClean="0"/>
              <a:pPr/>
              <a:t>‹#›</a:t>
            </a:fld>
            <a:endParaRPr lang="en-GB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96850"/>
            <a:ext cx="734218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rgbClr val="000000"/>
                </a:solidFill>
                <a:latin typeface="+mn-lt"/>
              </a:defRPr>
            </a:lvl1pPr>
          </a:lstStyle>
          <a:p>
            <a:fld id="{25FE6526-86E3-4E89-AD69-D82BF7DAC809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fld id="{3C731832-5850-4A36-B0B2-3A8EFF48616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3724672"/>
            <a:ext cx="9144000" cy="129614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12"/>
          <p:cNvSpPr txBox="1">
            <a:spLocks noChangeArrowheads="1"/>
          </p:cNvSpPr>
          <p:nvPr/>
        </p:nvSpPr>
        <p:spPr bwMode="auto">
          <a:xfrm>
            <a:off x="107504" y="4407843"/>
            <a:ext cx="8208912" cy="61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l"/>
            <a:r>
              <a:rPr lang="en-US" altLang="ru-RU" sz="20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>Fe Deficiency Detection &amp; SHAP </a:t>
            </a:r>
            <a:r>
              <a:rPr lang="en-US" altLang="ru-RU" sz="20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 Index Purpose </a:t>
            </a:r>
            <a: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/>
            </a:r>
            <a:b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</a:br>
            <a: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>- Remove noisy beginning and ending spectra</a:t>
            </a:r>
            <a:b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</a:br>
            <a: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>- </a:t>
            </a:r>
            <a:r>
              <a:rPr lang="en-US" altLang="ru-RU" sz="1600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>Results of All combinations</a:t>
            </a:r>
            <a: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  <a:t/>
            </a:r>
            <a:br>
              <a:rPr lang="en-US" altLang="ru-RU" sz="1600" b="1" kern="0" dirty="0" smtClean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Roboto" pitchFamily="2" charset="0"/>
                <a:cs typeface="Times New Roman" panose="02020603050405020304" pitchFamily="18" charset="0"/>
              </a:rPr>
            </a:br>
            <a:endParaRPr lang="en-US" altLang="ru-RU" sz="1600" b="1" kern="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ea typeface="Roboto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25877" y="4749408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2</a:t>
            </a:fld>
            <a:endParaRPr lang="ru-RU" alt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1187624" y="4508182"/>
                <a:ext cx="7488832" cy="9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 C: Randomly take 75% of each Plant as Train, and the rest 25% as Test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 </a:t>
                </a:r>
                <a14:m>
                  <m:oMath xmlns:m="http://schemas.openxmlformats.org/officeDocument/2006/math">
                    <m:acc>
                      <m:accPr>
                        <m:chr m:val="́"/>
                        <m:ctrlPr>
                          <a:rPr lang="en-US" sz="1100" b="0" i="1" kern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100" b="0" i="1" kern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1100" b="0" kern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100" b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Plan C (25% of each plant is randomly chose for test and the rest 75% for train) is executed 4 times and the results are aggregated</a:t>
                </a:r>
                <a:endParaRPr lang="en-US" sz="1100" b="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508182"/>
                <a:ext cx="7488832" cy="9446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2"/>
          <p:cNvSpPr txBox="1">
            <a:spLocks noChangeArrowheads="1"/>
          </p:cNvSpPr>
          <p:nvPr/>
        </p:nvSpPr>
        <p:spPr bwMode="auto">
          <a:xfrm>
            <a:off x="1691679" y="25927"/>
            <a:ext cx="6984776" cy="530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0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=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915305"/>
                  </p:ext>
                </p:extLst>
              </p:nvPr>
            </p:nvGraphicFramePr>
            <p:xfrm>
              <a:off x="2231739" y="556320"/>
              <a:ext cx="5904655" cy="3874589"/>
            </p:xfrm>
            <a:graphic>
              <a:graphicData uri="http://schemas.openxmlformats.org/drawingml/2006/table">
                <a:tbl>
                  <a:tblPr/>
                  <a:tblGrid>
                    <a:gridCol w="814972">
                      <a:extLst>
                        <a:ext uri="{9D8B030D-6E8A-4147-A177-3AD203B41FA5}">
                          <a16:colId xmlns:a16="http://schemas.microsoft.com/office/drawing/2014/main" val="869168832"/>
                        </a:ext>
                      </a:extLst>
                    </a:gridCol>
                    <a:gridCol w="1849322">
                      <a:extLst>
                        <a:ext uri="{9D8B030D-6E8A-4147-A177-3AD203B41FA5}">
                          <a16:colId xmlns:a16="http://schemas.microsoft.com/office/drawing/2014/main" val="3875420845"/>
                        </a:ext>
                      </a:extLst>
                    </a:gridCol>
                    <a:gridCol w="731363">
                      <a:extLst>
                        <a:ext uri="{9D8B030D-6E8A-4147-A177-3AD203B41FA5}">
                          <a16:colId xmlns:a16="http://schemas.microsoft.com/office/drawing/2014/main" val="855148350"/>
                        </a:ext>
                      </a:extLst>
                    </a:gridCol>
                    <a:gridCol w="788542">
                      <a:extLst>
                        <a:ext uri="{9D8B030D-6E8A-4147-A177-3AD203B41FA5}">
                          <a16:colId xmlns:a16="http://schemas.microsoft.com/office/drawing/2014/main" val="3299114641"/>
                        </a:ext>
                      </a:extLst>
                    </a:gridCol>
                    <a:gridCol w="1720456">
                      <a:extLst>
                        <a:ext uri="{9D8B030D-6E8A-4147-A177-3AD203B41FA5}">
                          <a16:colId xmlns:a16="http://schemas.microsoft.com/office/drawing/2014/main" val="1745721597"/>
                        </a:ext>
                      </a:extLst>
                    </a:gridCol>
                  </a:tblGrid>
                  <a:tr h="294732">
                    <a:tc grid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Binary Fe Deficiency Task, </a:t>
                          </a:r>
                          <a:r>
                            <a:rPr lang="en-US" sz="1200" b="1" dirty="0" smtClean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Trimmed </a:t>
                          </a:r>
                          <a:r>
                            <a:rPr lang="en-US" sz="12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Hyperspectral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7617276"/>
                      </a:ext>
                    </a:extLst>
                  </a:tr>
                  <a:tr h="3692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Row Number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Test 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Split Mode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Used Wavelengths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3735904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Part of </a:t>
                          </a:r>
                          <a:r>
                            <a:rPr lang="en-US" sz="1100" dirty="0" smtClean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Original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Auto,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b="0" i="1" kern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0" i="1" kern="0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6474712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255073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6463323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Marco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528811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750750"/>
                      </a:ext>
                    </a:extLst>
                  </a:tr>
                  <a:tr h="50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New)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With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SHAP on the train 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238879"/>
                      </a:ext>
                    </a:extLst>
                  </a:tr>
                  <a:tr h="7261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 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New)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Anna1+Anna2+Marco1+ Michele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With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SHAP on the train set</a:t>
                          </a:r>
                          <a:endParaRPr lang="en-US" sz="11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229701"/>
                      </a:ext>
                    </a:extLst>
                  </a:tr>
                  <a:tr h="6016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Marco 2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[449-792]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X792.72 in </a:t>
                          </a:r>
                          <a:r>
                            <a:rPr lang="en-US" sz="1100" b="1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both Original dataset and Marco2</a:t>
                          </a:r>
                          <a:endParaRPr lang="en-US" sz="1100" b="1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41154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915305"/>
                  </p:ext>
                </p:extLst>
              </p:nvPr>
            </p:nvGraphicFramePr>
            <p:xfrm>
              <a:off x="2231739" y="556320"/>
              <a:ext cx="5904655" cy="3874589"/>
            </p:xfrm>
            <a:graphic>
              <a:graphicData uri="http://schemas.openxmlformats.org/drawingml/2006/table">
                <a:tbl>
                  <a:tblPr/>
                  <a:tblGrid>
                    <a:gridCol w="814972">
                      <a:extLst>
                        <a:ext uri="{9D8B030D-6E8A-4147-A177-3AD203B41FA5}">
                          <a16:colId xmlns:a16="http://schemas.microsoft.com/office/drawing/2014/main" val="869168832"/>
                        </a:ext>
                      </a:extLst>
                    </a:gridCol>
                    <a:gridCol w="1849322">
                      <a:extLst>
                        <a:ext uri="{9D8B030D-6E8A-4147-A177-3AD203B41FA5}">
                          <a16:colId xmlns:a16="http://schemas.microsoft.com/office/drawing/2014/main" val="3875420845"/>
                        </a:ext>
                      </a:extLst>
                    </a:gridCol>
                    <a:gridCol w="731363">
                      <a:extLst>
                        <a:ext uri="{9D8B030D-6E8A-4147-A177-3AD203B41FA5}">
                          <a16:colId xmlns:a16="http://schemas.microsoft.com/office/drawing/2014/main" val="855148350"/>
                        </a:ext>
                      </a:extLst>
                    </a:gridCol>
                    <a:gridCol w="788542">
                      <a:extLst>
                        <a:ext uri="{9D8B030D-6E8A-4147-A177-3AD203B41FA5}">
                          <a16:colId xmlns:a16="http://schemas.microsoft.com/office/drawing/2014/main" val="3299114641"/>
                        </a:ext>
                      </a:extLst>
                    </a:gridCol>
                    <a:gridCol w="1720456">
                      <a:extLst>
                        <a:ext uri="{9D8B030D-6E8A-4147-A177-3AD203B41FA5}">
                          <a16:colId xmlns:a16="http://schemas.microsoft.com/office/drawing/2014/main" val="1745721597"/>
                        </a:ext>
                      </a:extLst>
                    </a:gridCol>
                  </a:tblGrid>
                  <a:tr h="294732">
                    <a:tc gridSpan="5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Binary Fe Deficiency Task, </a:t>
                          </a:r>
                          <a:r>
                            <a:rPr lang="en-US" sz="1200" b="1" dirty="0" smtClean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Trimmed </a:t>
                          </a:r>
                          <a:r>
                            <a:rPr lang="en-US" sz="12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Hyperspectral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7617276"/>
                      </a:ext>
                    </a:extLst>
                  </a:tr>
                  <a:tr h="3692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Row Number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Test 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Split Mode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Used Wavelengths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3CBB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3735904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Part of </a:t>
                          </a:r>
                          <a:r>
                            <a:rPr lang="en-US" sz="1100" dirty="0" smtClean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Original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000" t="-260000" r="-345000" b="-10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6474712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255073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6463323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Marco 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3528811"/>
                      </a:ext>
                    </a:extLst>
                  </a:tr>
                  <a:tr h="27653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750750"/>
                      </a:ext>
                    </a:extLst>
                  </a:tr>
                  <a:tr h="50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(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New)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With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SHAP on the train 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238879"/>
                      </a:ext>
                    </a:extLst>
                  </a:tr>
                  <a:tr h="7261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 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New)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Anna1+Anna2+Marco1+ Michele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With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SHAP on the train set</a:t>
                          </a:r>
                          <a:endParaRPr lang="en-US" sz="11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 X951.17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229701"/>
                      </a:ext>
                    </a:extLst>
                  </a:tr>
                  <a:tr h="60167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Marco 2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[449-792]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All, Some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X449.35 to</a:t>
                          </a:r>
                          <a:r>
                            <a:rPr lang="en-US" sz="11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X792.72 in </a:t>
                          </a:r>
                          <a:r>
                            <a:rPr lang="en-US" sz="1100" b="1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both Original dataset and Marco2</a:t>
                          </a:r>
                          <a:endParaRPr lang="en-US" sz="1100" b="1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EF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4115482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25877" y="4749408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3</a:t>
            </a:fld>
            <a:endParaRPr lang="ru-RU" alt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470645" y="1204392"/>
            <a:ext cx="74888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Dati_HIS_Serra_Cs_Hv_Sl_Zm_no_Fe.txt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Exp_I_Anna_Fe_Tomato.txt.txt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Exp_II_Anna_Fe_Tomato.txt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Marco1</a:t>
            </a: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</a:t>
            </a:r>
            <a:r>
              <a:rPr lang="en-US" sz="1600" b="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Exp_Marco_tesista_Fe_Lupino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.txt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600" b="0" kern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Marco2</a:t>
            </a:r>
            <a:r>
              <a:rPr lang="en-US" sz="1600" b="0" kern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“</a:t>
            </a:r>
            <a:r>
              <a:rPr lang="en-US" sz="1600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Marco_lupin_Polypen_last_day_24_0_2025.txt</a:t>
            </a:r>
            <a:r>
              <a:rPr lang="en-US" sz="1600" b="0" kern="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kern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kern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kern="0" dirty="0" smtClean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6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" name="Rectangle 2"/>
          <p:cNvSpPr txBox="1">
            <a:spLocks noChangeArrowheads="1"/>
          </p:cNvSpPr>
          <p:nvPr/>
        </p:nvSpPr>
        <p:spPr bwMode="auto">
          <a:xfrm>
            <a:off x="2987824" y="268288"/>
            <a:ext cx="4680520" cy="57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4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 used in the experiments</a:t>
            </a:r>
          </a:p>
        </p:txBody>
      </p:sp>
    </p:spTree>
    <p:extLst>
      <p:ext uri="{BB962C8B-B14F-4D97-AF65-F5344CB8AC3E}">
        <p14:creationId xmlns:p14="http://schemas.microsoft.com/office/powerpoint/2010/main" val="2416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25877" y="4749408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4</a:t>
            </a:fld>
            <a:endParaRPr lang="ru-RU" altLang="ru-RU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49" name="Rectangle 2"/>
          <p:cNvSpPr txBox="1">
            <a:spLocks noChangeArrowheads="1"/>
          </p:cNvSpPr>
          <p:nvPr/>
        </p:nvSpPr>
        <p:spPr bwMode="auto">
          <a:xfrm>
            <a:off x="2771800" y="133238"/>
            <a:ext cx="4680520" cy="57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0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1259632" y="778351"/>
                <a:ext cx="7195789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predicts the probability of the </a:t>
                </a:r>
                <a:r>
                  <a:rPr lang="en-US" sz="1400" b="0" kern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 class (here, -Fe</a:t>
                </a:r>
                <a:r>
                  <a:rPr lang="en-US" sz="14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1400" b="0" i="1" kern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400" b="0" i="1" kern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400" b="0" i="1" kern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1400" b="0" i="1" kern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400" b="0" i="1" kern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  <m:e>
                        <m:r>
                          <a:rPr lang="en-US" sz="1400" b="0" i="1" kern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4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the logistic (sigmoid) function:</a:t>
                </a:r>
              </a:p>
              <a:p>
                <a:pPr algn="just"/>
                <a:endParaRPr lang="en-US" sz="1400" b="0" kern="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400" b="0" kern="0" dirty="0" smtClean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400" b="0" kern="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400" b="0" kern="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400" kern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these series of slides, there are 14+14 possible formula: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400" b="0" kern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 per using Logistic Regression’s SHAP features in Logistic Regression’s formula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400" b="0" kern="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 per using Random Forest’s SHAP features in Logistic Regression’s </a:t>
                </a:r>
                <a:r>
                  <a:rPr lang="en-US" sz="14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 (</a:t>
                </a:r>
                <a:r>
                  <a:rPr lang="en-US" sz="1400" b="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Forest has no direct formula to be used. Hence, we USE ITS SHAP FEATURES IN </a:t>
                </a:r>
                <a:r>
                  <a:rPr lang="en-US" sz="1400" b="0" kern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LOGISTIC </a:t>
                </a:r>
                <a:r>
                  <a:rPr lang="en-US" sz="1400" b="0" kern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REGRESSION AND PROPOSE A SECOND FORMULA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400" b="0" kern="0" dirty="0" smtClean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1400" b="0" kern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400" b="0" kern="0" dirty="0" smtClean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1400" b="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778351"/>
                <a:ext cx="7195789" cy="3108543"/>
              </a:xfrm>
              <a:prstGeom prst="rect">
                <a:avLst/>
              </a:prstGeom>
              <a:blipFill>
                <a:blip r:embed="rId2"/>
                <a:stretch>
                  <a:fillRect l="-254" t="-392" r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94346" y="1276400"/>
                <a:ext cx="5526360" cy="5682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ker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600" b="0" i="1" ker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−(</m:t>
                              </m:r>
                              <m: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𝐼𝑛𝑡𝑒𝑟𝑐𝑒𝑝𝑡</m:t>
                              </m:r>
                              <m: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600" b="0" i="1" ker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600" b="0" i="1" ker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𝐶𝑜𝑒𝑓𝑓𝑖𝑐𝑖𝑒𝑛𝑡𝑠</m:t>
                                  </m:r>
                                  <m:r>
                                    <a:rPr lang="en-US" sz="1600" b="0" i="1" ker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a:rPr lang="en-US" sz="1600" b="0" i="1" ker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𝐹𝑒𝑎𝑡𝑢𝑟𝑒</m:t>
                                  </m:r>
                                </m:e>
                              </m:nary>
                              <m:r>
                                <a:rPr lang="en-US" sz="1600" b="0" i="1" ker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346" y="1276400"/>
                <a:ext cx="5526360" cy="568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ad Flower Vector Art, Icons, and Graphics for Free Downlo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3094901"/>
            <a:ext cx="1314400" cy="150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 bwMode="auto">
          <a:xfrm>
            <a:off x="1475656" y="3652664"/>
            <a:ext cx="1115144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35560" y="346455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will be chosen, both when </a:t>
            </a:r>
            <a:r>
              <a:rPr lang="en-US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Anna1+Anna2+Marco1”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used as the test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and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“all features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”, unless you prefer one “Some features” over “all features”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7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5</a:t>
            </a:fld>
            <a:endParaRPr lang="ru-RU" altLang="ru-RU"/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2210594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986312" y="197480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60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60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  <a:p>
            <a:pPr algn="ctr"/>
            <a:endParaRPr lang="en-US" sz="160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34476"/>
                  </p:ext>
                </p:extLst>
              </p:nvPr>
            </p:nvGraphicFramePr>
            <p:xfrm>
              <a:off x="755576" y="916362"/>
              <a:ext cx="3634136" cy="364445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960954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415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212468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21957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0.993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21957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0.777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961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0.966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961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0.75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285513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0.895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0.953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j-cs"/>
                            </a:rPr>
                            <a:t>0.740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fa-IR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0.935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734476"/>
                  </p:ext>
                </p:extLst>
              </p:nvPr>
            </p:nvGraphicFramePr>
            <p:xfrm>
              <a:off x="755576" y="916362"/>
              <a:ext cx="3634136" cy="364445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960954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415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212468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21957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7252" t="-300000" r="-102290" b="-1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0.993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21957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7252" t="-497222" r="-102290" b="-1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0.777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961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0.966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961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0.75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285513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0.895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0.953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21246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j-cs"/>
                            </a:rPr>
                            <a:t>0.740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B9B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2124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fa-IR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0.935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BE4D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178318"/>
                  </p:ext>
                </p:extLst>
              </p:nvPr>
            </p:nvGraphicFramePr>
            <p:xfrm>
              <a:off x="4788024" y="916360"/>
              <a:ext cx="3441154" cy="364445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320708459"/>
                        </a:ext>
                      </a:extLst>
                    </a:gridCol>
                    <a:gridCol w="894110">
                      <a:extLst>
                        <a:ext uri="{9D8B030D-6E8A-4147-A177-3AD203B41FA5}">
                          <a16:colId xmlns:a16="http://schemas.microsoft.com/office/drawing/2014/main" val="645019000"/>
                        </a:ext>
                      </a:extLst>
                    </a:gridCol>
                    <a:gridCol w="733462">
                      <a:extLst>
                        <a:ext uri="{9D8B030D-6E8A-4147-A177-3AD203B41FA5}">
                          <a16:colId xmlns:a16="http://schemas.microsoft.com/office/drawing/2014/main" val="2988479785"/>
                        </a:ext>
                      </a:extLst>
                    </a:gridCol>
                    <a:gridCol w="733462">
                      <a:extLst>
                        <a:ext uri="{9D8B030D-6E8A-4147-A177-3AD203B41FA5}">
                          <a16:colId xmlns:a16="http://schemas.microsoft.com/office/drawing/2014/main" val="3716878944"/>
                        </a:ext>
                      </a:extLst>
                    </a:gridCol>
                  </a:tblGrid>
                  <a:tr h="38357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Dataset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Features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Split mode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Accuracy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237303"/>
                      </a:ext>
                    </a:extLst>
                  </a:tr>
                  <a:tr h="191789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Original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187590"/>
                      </a:ext>
                    </a:extLst>
                  </a:tr>
                  <a:tr h="19836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2907016"/>
                      </a:ext>
                    </a:extLst>
                  </a:tr>
                  <a:tr h="19178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887788"/>
                      </a:ext>
                    </a:extLst>
                  </a:tr>
                  <a:tr h="19836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3243999"/>
                      </a:ext>
                    </a:extLst>
                  </a:tr>
                  <a:tr h="191789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08828"/>
                      </a:ext>
                    </a:extLst>
                  </a:tr>
                  <a:tr h="2622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24912"/>
                      </a:ext>
                    </a:extLst>
                  </a:tr>
                  <a:tr h="191789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1817883"/>
                      </a:ext>
                    </a:extLst>
                  </a:tr>
                  <a:tr h="26229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927084"/>
                      </a:ext>
                    </a:extLst>
                  </a:tr>
                  <a:tr h="191789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311601"/>
                      </a:ext>
                    </a:extLst>
                  </a:tr>
                  <a:tr h="19178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991830"/>
                      </a:ext>
                    </a:extLst>
                  </a:tr>
                  <a:tr h="38357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Anna1+Anna2+Marco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665030"/>
                      </a:ext>
                    </a:extLst>
                  </a:tr>
                  <a:tr h="19178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827232"/>
                      </a:ext>
                    </a:extLst>
                  </a:tr>
                  <a:tr h="22375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111663"/>
                      </a:ext>
                    </a:extLst>
                  </a:tr>
                  <a:tr h="22375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fa-IR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0.818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0960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178318"/>
                  </p:ext>
                </p:extLst>
              </p:nvPr>
            </p:nvGraphicFramePr>
            <p:xfrm>
              <a:off x="4788024" y="916360"/>
              <a:ext cx="3441154" cy="364445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320708459"/>
                        </a:ext>
                      </a:extLst>
                    </a:gridCol>
                    <a:gridCol w="894110">
                      <a:extLst>
                        <a:ext uri="{9D8B030D-6E8A-4147-A177-3AD203B41FA5}">
                          <a16:colId xmlns:a16="http://schemas.microsoft.com/office/drawing/2014/main" val="645019000"/>
                        </a:ext>
                      </a:extLst>
                    </a:gridCol>
                    <a:gridCol w="733462">
                      <a:extLst>
                        <a:ext uri="{9D8B030D-6E8A-4147-A177-3AD203B41FA5}">
                          <a16:colId xmlns:a16="http://schemas.microsoft.com/office/drawing/2014/main" val="2988479785"/>
                        </a:ext>
                      </a:extLst>
                    </a:gridCol>
                    <a:gridCol w="733462">
                      <a:extLst>
                        <a:ext uri="{9D8B030D-6E8A-4147-A177-3AD203B41FA5}">
                          <a16:colId xmlns:a16="http://schemas.microsoft.com/office/drawing/2014/main" val="3716878944"/>
                        </a:ext>
                      </a:extLst>
                    </a:gridCol>
                  </a:tblGrid>
                  <a:tr h="40016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Dataset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Features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Split mode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Accuracy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2237303"/>
                      </a:ext>
                    </a:extLst>
                  </a:tr>
                  <a:tr h="204456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Original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187590"/>
                      </a:ext>
                    </a:extLst>
                  </a:tr>
                  <a:tr h="2113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8595" t="-297143" r="-102479" b="-13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2907016"/>
                      </a:ext>
                    </a:extLst>
                  </a:tr>
                  <a:tr h="2044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5887788"/>
                      </a:ext>
                    </a:extLst>
                  </a:tr>
                  <a:tr h="2113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8595" t="-508824" r="-102479" b="-119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3243999"/>
                      </a:ext>
                    </a:extLst>
                  </a:tr>
                  <a:tr h="204456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508828"/>
                      </a:ext>
                    </a:extLst>
                  </a:tr>
                  <a:tr h="27969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24912"/>
                      </a:ext>
                    </a:extLst>
                  </a:tr>
                  <a:tr h="204456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1817883"/>
                      </a:ext>
                    </a:extLst>
                  </a:tr>
                  <a:tr h="27969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927084"/>
                      </a:ext>
                    </a:extLst>
                  </a:tr>
                  <a:tr h="204456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311601"/>
                      </a:ext>
                    </a:extLst>
                  </a:tr>
                  <a:tr h="2044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3991830"/>
                      </a:ext>
                    </a:extLst>
                  </a:tr>
                  <a:tr h="38357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Anna1+Anna2+Marco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665030"/>
                      </a:ext>
                    </a:extLst>
                  </a:tr>
                  <a:tr h="20445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827232"/>
                      </a:ext>
                    </a:extLst>
                  </a:tr>
                  <a:tr h="22375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111663"/>
                      </a:ext>
                    </a:extLst>
                  </a:tr>
                  <a:tr h="22375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2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fa-IR" sz="1200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0.818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09604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1741326" y="4560818"/>
            <a:ext cx="16626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kern="0" dirty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5868144" y="4569023"/>
            <a:ext cx="12875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297113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93" y="4763402"/>
            <a:ext cx="360041" cy="307777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6</a:t>
            </a:fld>
            <a:endParaRPr lang="ru-RU" altLang="ru-RU"/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2210594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986312" y="197480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4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b="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pPr algn="ctr"/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SHAP Features in 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Wavelengths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sz="1400" kern="0" dirty="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1400" b="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560117"/>
                  </p:ext>
                </p:extLst>
              </p:nvPr>
            </p:nvGraphicFramePr>
            <p:xfrm>
              <a:off x="1043608" y="779482"/>
              <a:ext cx="3634136" cy="39501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960954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3600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184264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19042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18426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19042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18426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5687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18426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5687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18426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18426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50620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0.953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50" b="0" i="1" u="sng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New: 0.965</a:t>
                          </a:r>
                          <a:endParaRPr lang="en-US" sz="1050" b="0" i="1" u="sng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64421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0.965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0" i="1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0.965</a:t>
                          </a:r>
                          <a:endParaRPr lang="en-US" sz="1100" b="0" i="1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184264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0.922</a:t>
                          </a:r>
                          <a:endParaRPr lang="en-US" sz="1100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18426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0.909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560117"/>
                  </p:ext>
                </p:extLst>
              </p:nvPr>
            </p:nvGraphicFramePr>
            <p:xfrm>
              <a:off x="1043608" y="779482"/>
              <a:ext cx="3634136" cy="39501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12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960954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796531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3600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188787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1950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6489" t="-296875" r="-102290" b="-16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1887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19507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6489" t="-493750" r="-102290" b="-149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18878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696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18878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696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18878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1887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506208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0.953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50" b="0" i="1" u="sng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New: 0.965</a:t>
                          </a:r>
                          <a:endParaRPr lang="en-US" sz="1050" b="0" i="1" u="sng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9F9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64421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0.965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0" i="1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0.965</a:t>
                          </a:r>
                          <a:endParaRPr lang="en-US" sz="1100" b="0" i="1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18878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0.922</a:t>
                          </a:r>
                          <a:endParaRPr lang="en-US" sz="1100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18878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0.909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642894"/>
                  </p:ext>
                </p:extLst>
              </p:nvPr>
            </p:nvGraphicFramePr>
            <p:xfrm>
              <a:off x="5004047" y="721369"/>
              <a:ext cx="3617845" cy="40986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4461">
                      <a:extLst>
                        <a:ext uri="{9D8B030D-6E8A-4147-A177-3AD203B41FA5}">
                          <a16:colId xmlns:a16="http://schemas.microsoft.com/office/drawing/2014/main" val="1320708459"/>
                        </a:ext>
                      </a:extLst>
                    </a:gridCol>
                    <a:gridCol w="853789">
                      <a:extLst>
                        <a:ext uri="{9D8B030D-6E8A-4147-A177-3AD203B41FA5}">
                          <a16:colId xmlns:a16="http://schemas.microsoft.com/office/drawing/2014/main" val="645019000"/>
                        </a:ext>
                      </a:extLst>
                    </a:gridCol>
                    <a:gridCol w="835626">
                      <a:extLst>
                        <a:ext uri="{9D8B030D-6E8A-4147-A177-3AD203B41FA5}">
                          <a16:colId xmlns:a16="http://schemas.microsoft.com/office/drawing/2014/main" val="2988479785"/>
                        </a:ext>
                      </a:extLst>
                    </a:gridCol>
                    <a:gridCol w="903969">
                      <a:extLst>
                        <a:ext uri="{9D8B030D-6E8A-4147-A177-3AD203B41FA5}">
                          <a16:colId xmlns:a16="http://schemas.microsoft.com/office/drawing/2014/main" val="3716878944"/>
                        </a:ext>
                      </a:extLst>
                    </a:gridCol>
                  </a:tblGrid>
                  <a:tr h="2419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Dataset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Features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Split mode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2237303"/>
                      </a:ext>
                    </a:extLst>
                  </a:tr>
                  <a:tr h="182762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Original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84187590"/>
                      </a:ext>
                    </a:extLst>
                  </a:tr>
                  <a:tr h="18886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2907016"/>
                      </a:ext>
                    </a:extLst>
                  </a:tr>
                  <a:tr h="18276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5887788"/>
                      </a:ext>
                    </a:extLst>
                  </a:tr>
                  <a:tr h="18886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j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3243999"/>
                      </a:ext>
                    </a:extLst>
                  </a:tr>
                  <a:tr h="182762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0508828"/>
                      </a:ext>
                    </a:extLst>
                  </a:tr>
                  <a:tr h="25585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24912"/>
                      </a:ext>
                    </a:extLst>
                  </a:tr>
                  <a:tr h="182762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1817883"/>
                      </a:ext>
                    </a:extLst>
                  </a:tr>
                  <a:tr h="25585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7927084"/>
                      </a:ext>
                    </a:extLst>
                  </a:tr>
                  <a:tr h="182762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311601"/>
                      </a:ext>
                    </a:extLst>
                  </a:tr>
                  <a:tr h="18276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3991830"/>
                      </a:ext>
                    </a:extLst>
                  </a:tr>
                  <a:tr h="72072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Anna1+Anna2+Marco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0.953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50" b="0" i="1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0.953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endParaRPr lang="en-US" sz="1100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665030"/>
                      </a:ext>
                    </a:extLst>
                  </a:tr>
                  <a:tr h="69410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0.965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0" i="1" u="sng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827232"/>
                      </a:ext>
                    </a:extLst>
                  </a:tr>
                  <a:tr h="182762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0.792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1111663"/>
                      </a:ext>
                    </a:extLst>
                  </a:tr>
                  <a:tr h="18276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0.805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0960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642894"/>
                  </p:ext>
                </p:extLst>
              </p:nvPr>
            </p:nvGraphicFramePr>
            <p:xfrm>
              <a:off x="5004047" y="721369"/>
              <a:ext cx="3617845" cy="40986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24461">
                      <a:extLst>
                        <a:ext uri="{9D8B030D-6E8A-4147-A177-3AD203B41FA5}">
                          <a16:colId xmlns:a16="http://schemas.microsoft.com/office/drawing/2014/main" val="1320708459"/>
                        </a:ext>
                      </a:extLst>
                    </a:gridCol>
                    <a:gridCol w="853789">
                      <a:extLst>
                        <a:ext uri="{9D8B030D-6E8A-4147-A177-3AD203B41FA5}">
                          <a16:colId xmlns:a16="http://schemas.microsoft.com/office/drawing/2014/main" val="645019000"/>
                        </a:ext>
                      </a:extLst>
                    </a:gridCol>
                    <a:gridCol w="835626">
                      <a:extLst>
                        <a:ext uri="{9D8B030D-6E8A-4147-A177-3AD203B41FA5}">
                          <a16:colId xmlns:a16="http://schemas.microsoft.com/office/drawing/2014/main" val="2988479785"/>
                        </a:ext>
                      </a:extLst>
                    </a:gridCol>
                    <a:gridCol w="903969">
                      <a:extLst>
                        <a:ext uri="{9D8B030D-6E8A-4147-A177-3AD203B41FA5}">
                          <a16:colId xmlns:a16="http://schemas.microsoft.com/office/drawing/2014/main" val="3716878944"/>
                        </a:ext>
                      </a:extLst>
                    </a:gridCol>
                  </a:tblGrid>
                  <a:tr h="24192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Dataset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Features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Split mode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62237303"/>
                      </a:ext>
                    </a:extLst>
                  </a:tr>
                  <a:tr h="188137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Original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84187590"/>
                      </a:ext>
                    </a:extLst>
                  </a:tr>
                  <a:tr h="194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6277" t="-240625" r="-110949" b="-18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0.979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2907016"/>
                      </a:ext>
                    </a:extLst>
                  </a:tr>
                  <a:tr h="18813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Auto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5887788"/>
                      </a:ext>
                    </a:extLst>
                  </a:tr>
                  <a:tr h="194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6277" t="-434375" r="-110949" b="-16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3243999"/>
                      </a:ext>
                    </a:extLst>
                  </a:tr>
                  <a:tr h="18813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0508828"/>
                      </a:ext>
                    </a:extLst>
                  </a:tr>
                  <a:tr h="26337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24912"/>
                      </a:ext>
                    </a:extLst>
                  </a:tr>
                  <a:tr h="18813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 II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1817883"/>
                      </a:ext>
                    </a:extLst>
                  </a:tr>
                  <a:tr h="26337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83987" marR="83987" marT="41994" marB="41994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7927084"/>
                      </a:ext>
                    </a:extLst>
                  </a:tr>
                  <a:tr h="18813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1311601"/>
                      </a:ext>
                    </a:extLst>
                  </a:tr>
                  <a:tr h="18813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3991830"/>
                      </a:ext>
                    </a:extLst>
                  </a:tr>
                  <a:tr h="741920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Anna1+Anna2+Marco I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0.953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50" b="0" i="1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0.953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endParaRPr lang="en-US" sz="1100" strike="sng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1E0A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4665030"/>
                      </a:ext>
                    </a:extLst>
                  </a:tr>
                  <a:tr h="69410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0.965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0" i="1" u="sng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0.965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0EFD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827232"/>
                      </a:ext>
                    </a:extLst>
                  </a:tr>
                  <a:tr h="188137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All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</a:rPr>
                            <a:t>0.792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1111663"/>
                      </a:ext>
                    </a:extLst>
                  </a:tr>
                  <a:tr h="18813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Some</a:t>
                          </a: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-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rtl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0.805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2991" marR="62991" marT="874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09604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ight Arrow 10"/>
          <p:cNvSpPr/>
          <p:nvPr/>
        </p:nvSpPr>
        <p:spPr bwMode="auto">
          <a:xfrm>
            <a:off x="91144" y="3652664"/>
            <a:ext cx="899592" cy="432048"/>
          </a:xfrm>
          <a:prstGeom prst="rightArrow">
            <a:avLst/>
          </a:prstGeom>
          <a:solidFill>
            <a:srgbClr val="FF9F9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03482" y="3190999"/>
            <a:ext cx="1288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Index/Formula</a:t>
            </a:r>
            <a:endParaRPr lang="en-US" sz="1200" b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94767" y="4763402"/>
            <a:ext cx="1877437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LR’s </a:t>
            </a:r>
            <a:r>
              <a:rPr lang="en-US" sz="1200" b="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LR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9599" y="4810759"/>
            <a:ext cx="1858201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RF’s </a:t>
            </a:r>
            <a:r>
              <a:rPr lang="en-US" sz="1200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200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en-US" sz="1200" b="0" dirty="0">
              <a:solidFill>
                <a:srgbClr val="397B0D"/>
              </a:solidFill>
            </a:endParaRPr>
          </a:p>
          <a:p>
            <a:r>
              <a:rPr lang="en-US" sz="1199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397B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70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7</a:t>
            </a:fld>
            <a:endParaRPr lang="ru-RU" altLang="ru-RU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691680" y="331730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6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8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Putting</a:t>
            </a:r>
            <a:r>
              <a:rPr lang="en-US" sz="18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8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Forest’s</a:t>
            </a:r>
          </a:p>
          <a:p>
            <a:pPr algn="ctr"/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SHAP Features in </a:t>
            </a:r>
            <a:r>
              <a:rPr lang="en-US" sz="16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Wavelengths</a:t>
            </a:r>
            <a:r>
              <a:rPr lang="en-US" sz="16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sz="1600" kern="0" dirty="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1600" b="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6721413"/>
                  </p:ext>
                </p:extLst>
              </p:nvPr>
            </p:nvGraphicFramePr>
            <p:xfrm>
              <a:off x="2304255" y="960787"/>
              <a:ext cx="3750350" cy="38440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1466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853098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965570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3733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191035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197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197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Plan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+mn-cs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6631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6631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424651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u="none" strike="noStrike" dirty="0" smtClean="0">
                              <a:solidFill>
                                <a:srgbClr val="000000"/>
                              </a:solidFill>
                            </a:rPr>
                            <a:t>0.965**</a:t>
                          </a:r>
                          <a:endParaRPr lang="fa-IR" sz="1100" u="none" strike="noStrike" dirty="0" smtClean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5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New: </a:t>
                          </a:r>
                          <a:r>
                            <a:rPr lang="en-US" sz="1050" i="1" u="none" strike="noStrike" dirty="0" smtClean="0">
                              <a:solidFill>
                                <a:srgbClr val="000000"/>
                              </a:solidFill>
                            </a:rPr>
                            <a:t>0.965**</a:t>
                          </a:r>
                          <a:endParaRPr lang="en-US" sz="1050" i="1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54675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0.9</a:t>
                          </a:r>
                          <a:r>
                            <a:rPr lang="fa-IR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53</a:t>
                          </a: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*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u="sng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</a:t>
                          </a:r>
                          <a:r>
                            <a:rPr lang="en-US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0.95</a:t>
                          </a:r>
                          <a:r>
                            <a:rPr lang="fa-IR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3</a:t>
                          </a:r>
                          <a:r>
                            <a:rPr lang="en-US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**</a:t>
                          </a:r>
                          <a:endParaRPr lang="en-US" sz="1100" i="1" u="sng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</a:rPr>
                            <a:t>0.922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u="none" strike="noStrike" dirty="0" smtClean="0">
                              <a:solidFill>
                                <a:srgbClr val="000000"/>
                              </a:solidFill>
                            </a:rPr>
                            <a:t>0.922**</a:t>
                          </a:r>
                          <a:endParaRPr lang="en-US" sz="110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6721413"/>
                  </p:ext>
                </p:extLst>
              </p:nvPr>
            </p:nvGraphicFramePr>
            <p:xfrm>
              <a:off x="2304255" y="960787"/>
              <a:ext cx="3750350" cy="38440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14660">
                      <a:extLst>
                        <a:ext uri="{9D8B030D-6E8A-4147-A177-3AD203B41FA5}">
                          <a16:colId xmlns:a16="http://schemas.microsoft.com/office/drawing/2014/main" val="1059764811"/>
                        </a:ext>
                      </a:extLst>
                    </a:gridCol>
                    <a:gridCol w="853098">
                      <a:extLst>
                        <a:ext uri="{9D8B030D-6E8A-4147-A177-3AD203B41FA5}">
                          <a16:colId xmlns:a16="http://schemas.microsoft.com/office/drawing/2014/main" val="2014416948"/>
                        </a:ext>
                      </a:extLst>
                    </a:gridCol>
                    <a:gridCol w="817022">
                      <a:extLst>
                        <a:ext uri="{9D8B030D-6E8A-4147-A177-3AD203B41FA5}">
                          <a16:colId xmlns:a16="http://schemas.microsoft.com/office/drawing/2014/main" val="2617400131"/>
                        </a:ext>
                      </a:extLst>
                    </a:gridCol>
                    <a:gridCol w="965570">
                      <a:extLst>
                        <a:ext uri="{9D8B030D-6E8A-4147-A177-3AD203B41FA5}">
                          <a16:colId xmlns:a16="http://schemas.microsoft.com/office/drawing/2014/main" val="3474987183"/>
                        </a:ext>
                      </a:extLst>
                    </a:gridCol>
                  </a:tblGrid>
                  <a:tr h="3733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Dataset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Features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Split mode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Accuracy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833927"/>
                      </a:ext>
                    </a:extLst>
                  </a:tr>
                  <a:tr h="191035">
                    <a:tc rowSpan="4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Original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387452"/>
                      </a:ext>
                    </a:extLst>
                  </a:tr>
                  <a:tr h="197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2537" t="-306250" r="-120896" b="-16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5322114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Auto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0.972*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6369414"/>
                      </a:ext>
                    </a:extLst>
                  </a:tr>
                  <a:tr h="1974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2537" t="-506250" r="-120896" b="-14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0.965*</a:t>
                          </a:r>
                          <a:endParaRPr lang="en-US" sz="1100" b="1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1717368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461990"/>
                      </a:ext>
                    </a:extLst>
                  </a:tr>
                  <a:tr h="2696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68269185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 II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5487799"/>
                      </a:ext>
                    </a:extLst>
                  </a:tr>
                  <a:tr h="26961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90227" marR="90227" marT="45113" marB="45113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754559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48360095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1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0275516"/>
                      </a:ext>
                    </a:extLst>
                  </a:tr>
                  <a:tr h="461583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Anna1+Anna2+Marco I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u="none" strike="noStrike" dirty="0" smtClean="0">
                              <a:solidFill>
                                <a:srgbClr val="000000"/>
                              </a:solidFill>
                            </a:rPr>
                            <a:t>0.965**</a:t>
                          </a:r>
                          <a:endParaRPr lang="fa-IR" sz="1100" u="none" strike="noStrike" dirty="0" smtClean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05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j-cs"/>
                            </a:rPr>
                            <a:t>New: </a:t>
                          </a:r>
                          <a:r>
                            <a:rPr lang="en-US" sz="1050" i="1" u="none" strike="noStrike" dirty="0" smtClean="0">
                              <a:solidFill>
                                <a:srgbClr val="000000"/>
                              </a:solidFill>
                            </a:rPr>
                            <a:t>0.965**</a:t>
                          </a:r>
                          <a:endParaRPr lang="en-US" sz="1050" i="1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9A6E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9614010"/>
                      </a:ext>
                    </a:extLst>
                  </a:tr>
                  <a:tr h="54675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0.9</a:t>
                          </a:r>
                          <a:r>
                            <a:rPr lang="fa-IR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53</a:t>
                          </a:r>
                          <a:r>
                            <a:rPr lang="en-US" sz="1100" b="1" strike="noStrike" dirty="0" smtClean="0">
                              <a:solidFill>
                                <a:srgbClr val="000000"/>
                              </a:solidFill>
                              <a:cs typeface="+mj-cs"/>
                            </a:rPr>
                            <a:t>*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i="1" u="sng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New: </a:t>
                          </a:r>
                          <a:r>
                            <a:rPr lang="en-US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0.95</a:t>
                          </a:r>
                          <a:r>
                            <a:rPr lang="fa-IR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3</a:t>
                          </a:r>
                          <a:r>
                            <a:rPr lang="en-US" sz="1100" i="1" u="sng" strike="noStrike" dirty="0" smtClean="0">
                              <a:solidFill>
                                <a:srgbClr val="000000"/>
                              </a:solidFill>
                            </a:rPr>
                            <a:t>**</a:t>
                          </a:r>
                          <a:endParaRPr lang="en-US" sz="1100" i="1" u="sng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1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8457988"/>
                      </a:ext>
                    </a:extLst>
                  </a:tr>
                  <a:tr h="191035">
                    <a:tc row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Marco II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All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strike="noStrike" dirty="0" smtClean="0">
                              <a:solidFill>
                                <a:srgbClr val="000000"/>
                              </a:solidFill>
                            </a:rPr>
                            <a:t>0.922</a:t>
                          </a:r>
                          <a:endParaRPr lang="en-US" sz="1100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j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8677"/>
                      </a:ext>
                    </a:extLst>
                  </a:tr>
                  <a:tr h="19103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Some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+mn-cs"/>
                            </a:rPr>
                            <a:t>-</a:t>
                          </a: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u="none" strike="noStrike" dirty="0" smtClean="0">
                              <a:solidFill>
                                <a:srgbClr val="000000"/>
                              </a:solidFill>
                            </a:rPr>
                            <a:t>0.922**</a:t>
                          </a:r>
                          <a:endParaRPr lang="en-US" sz="110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+mn-cs"/>
                          </a:endParaRPr>
                        </a:p>
                      </a:txBody>
                      <a:tcPr marL="67670" marR="67670" marT="9399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43147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/>
          <p:cNvSpPr/>
          <p:nvPr/>
        </p:nvSpPr>
        <p:spPr>
          <a:xfrm>
            <a:off x="6249231" y="2186398"/>
            <a:ext cx="288941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comparison with the Logistic Regression’s table on slide </a:t>
            </a:r>
            <a:r>
              <a:rPr lang="en-US" sz="13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denotes that cell’s value has decreased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 denotes that  cell’s value has increased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cells’ values have not changed</a:t>
            </a:r>
            <a:endParaRPr lang="en-US" sz="1300" b="0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Arrow 7"/>
          <p:cNvSpPr/>
          <p:nvPr/>
        </p:nvSpPr>
        <p:spPr bwMode="auto">
          <a:xfrm>
            <a:off x="1317542" y="3796680"/>
            <a:ext cx="899592" cy="432048"/>
          </a:xfrm>
          <a:prstGeom prst="rightArrow">
            <a:avLst/>
          </a:prstGeom>
          <a:solidFill>
            <a:srgbClr val="A66BD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2916" y="3407023"/>
            <a:ext cx="1288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smtClean="0">
                <a:solidFill>
                  <a:srgbClr val="5324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Index/Formula</a:t>
            </a:r>
            <a:endParaRPr lang="en-US" sz="1200" b="0" dirty="0">
              <a:solidFill>
                <a:srgbClr val="53247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47193" y="4838104"/>
            <a:ext cx="1867819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A66B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RF’s </a:t>
            </a:r>
            <a:r>
              <a:rPr lang="en-US" sz="1200" b="0" kern="0" dirty="0">
                <a:solidFill>
                  <a:srgbClr val="A66B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200" b="0" kern="0" dirty="0" smtClean="0">
                <a:solidFill>
                  <a:srgbClr val="A66B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en-US" sz="1200" b="0" dirty="0">
              <a:solidFill>
                <a:srgbClr val="A66BD3"/>
              </a:solidFill>
            </a:endParaRPr>
          </a:p>
          <a:p>
            <a:r>
              <a:rPr lang="en-US" sz="1199" b="0" kern="0" dirty="0">
                <a:solidFill>
                  <a:srgbClr val="A66B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A66B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12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93" y="4763402"/>
            <a:ext cx="360041" cy="307777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8</a:t>
            </a:fld>
            <a:endParaRPr lang="ru-RU" altLang="ru-RU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678984" y="550608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60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6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pPr algn="ctr"/>
            <a:r>
              <a:rPr lang="en-US" sz="16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Trimmed Wavelengths Considered</a:t>
            </a:r>
          </a:p>
          <a:p>
            <a:pPr algn="ctr"/>
            <a:endParaRPr lang="en-US" sz="160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64519"/>
              </p:ext>
            </p:extLst>
          </p:nvPr>
        </p:nvGraphicFramePr>
        <p:xfrm>
          <a:off x="1619672" y="1564432"/>
          <a:ext cx="3456385" cy="1711940"/>
        </p:xfrm>
        <a:graphic>
          <a:graphicData uri="http://schemas.openxmlformats.org/drawingml/2006/table">
            <a:tbl>
              <a:tblPr firstRow="1" firstCol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36182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13743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6630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82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51854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0.895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14010"/>
                  </a:ext>
                </a:extLst>
              </a:tr>
              <a:tr h="2003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Some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0.953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457988"/>
                  </a:ext>
                </a:extLst>
              </a:tr>
              <a:tr h="25293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0.572</a:t>
                      </a:r>
                      <a:endParaRPr lang="en-US" sz="1100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  <a:tr h="2529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Some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0.707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31473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2621543" y="3433282"/>
            <a:ext cx="14526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kern="0" dirty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6732240" y="3363717"/>
            <a:ext cx="1130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200" b="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67339"/>
              </p:ext>
            </p:extLst>
          </p:nvPr>
        </p:nvGraphicFramePr>
        <p:xfrm>
          <a:off x="5373279" y="1564432"/>
          <a:ext cx="3608656" cy="1738117"/>
        </p:xfrm>
        <a:graphic>
          <a:graphicData uri="http://schemas.openxmlformats.org/drawingml/2006/table">
            <a:tbl>
              <a:tblPr firstRow="1" firstCol="1" bandRow="1"/>
              <a:tblGrid>
                <a:gridCol w="1354885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812931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45186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95654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52777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0.965</a:t>
                      </a:r>
                    </a:p>
                  </a:txBody>
                  <a:tcPr marL="62991" marR="62991" marT="87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14010"/>
                  </a:ext>
                </a:extLst>
              </a:tr>
              <a:tr h="2039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Some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0.965</a:t>
                      </a:r>
                    </a:p>
                  </a:txBody>
                  <a:tcPr marL="62991" marR="62991" marT="87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457988"/>
                  </a:ext>
                </a:extLst>
              </a:tr>
              <a:tr h="25743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0.637</a:t>
                      </a:r>
                      <a:endParaRPr lang="en-US" sz="1100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  <a:tr h="2574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Some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0.624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31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44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93" y="4763402"/>
            <a:ext cx="360041" cy="307777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9</a:t>
            </a:fld>
            <a:endParaRPr lang="ru-RU" altLang="ru-RU"/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2210594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986312" y="197480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4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400" b="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b="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pPr algn="ctr"/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SHAP Features in 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Wavelengths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sz="1400" kern="0" dirty="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1400" b="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270713"/>
              </p:ext>
            </p:extLst>
          </p:nvPr>
        </p:nvGraphicFramePr>
        <p:xfrm>
          <a:off x="827584" y="1071409"/>
          <a:ext cx="3456385" cy="1359749"/>
        </p:xfrm>
        <a:graphic>
          <a:graphicData uri="http://schemas.openxmlformats.org/drawingml/2006/table">
            <a:tbl>
              <a:tblPr firstRow="1" firstCol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36182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13743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6630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82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5185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0.965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14010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0.68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357191"/>
              </p:ext>
            </p:extLst>
          </p:nvPr>
        </p:nvGraphicFramePr>
        <p:xfrm>
          <a:off x="4581191" y="1071409"/>
          <a:ext cx="3608656" cy="1377570"/>
        </p:xfrm>
        <a:graphic>
          <a:graphicData uri="http://schemas.openxmlformats.org/drawingml/2006/table">
            <a:tbl>
              <a:tblPr firstRow="1" firstCol="1" bandRow="1"/>
              <a:tblGrid>
                <a:gridCol w="1574985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617937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95654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5277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0.953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2991" marR="62991" marT="87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614010"/>
                  </a:ext>
                </a:extLst>
              </a:tr>
              <a:tr h="2574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0.65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F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619449"/>
              </p:ext>
            </p:extLst>
          </p:nvPr>
        </p:nvGraphicFramePr>
        <p:xfrm>
          <a:off x="2477975" y="3014837"/>
          <a:ext cx="3907544" cy="1546571"/>
        </p:xfrm>
        <a:graphic>
          <a:graphicData uri="http://schemas.openxmlformats.org/drawingml/2006/table">
            <a:tbl>
              <a:tblPr firstRow="1" firstCol="1" bandRow="1"/>
              <a:tblGrid>
                <a:gridCol w="1467104">
                  <a:extLst>
                    <a:ext uri="{9D8B030D-6E8A-4147-A177-3AD203B41FA5}">
                      <a16:colId xmlns:a16="http://schemas.microsoft.com/office/drawing/2014/main" val="1238295595"/>
                    </a:ext>
                  </a:extLst>
                </a:gridCol>
                <a:gridCol w="880262">
                  <a:extLst>
                    <a:ext uri="{9D8B030D-6E8A-4147-A177-3AD203B41FA5}">
                      <a16:colId xmlns:a16="http://schemas.microsoft.com/office/drawing/2014/main" val="3191786330"/>
                    </a:ext>
                  </a:extLst>
                </a:gridCol>
                <a:gridCol w="806906">
                  <a:extLst>
                    <a:ext uri="{9D8B030D-6E8A-4147-A177-3AD203B41FA5}">
                      <a16:colId xmlns:a16="http://schemas.microsoft.com/office/drawing/2014/main" val="3493457064"/>
                    </a:ext>
                  </a:extLst>
                </a:gridCol>
                <a:gridCol w="753272">
                  <a:extLst>
                    <a:ext uri="{9D8B030D-6E8A-4147-A177-3AD203B41FA5}">
                      <a16:colId xmlns:a16="http://schemas.microsoft.com/office/drawing/2014/main" val="2619871096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166708"/>
                  </a:ext>
                </a:extLst>
              </a:tr>
              <a:tr h="5277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i="0" u="none" strike="noStrike" dirty="0" smtClean="0">
                          <a:solidFill>
                            <a:srgbClr val="000000"/>
                          </a:solidFill>
                        </a:rPr>
                        <a:t>0.965</a:t>
                      </a:r>
                      <a:endParaRPr lang="en-US" sz="120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2991" marR="62991" marT="87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192457"/>
                  </a:ext>
                </a:extLst>
              </a:tr>
              <a:tr h="5277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2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2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2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0.66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2991" marR="62991" marT="874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07573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40536" y="4623269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100" b="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Forest’s SHAP </a:t>
            </a:r>
            <a:r>
              <a:rPr lang="en-US" sz="1100" b="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in LR</a:t>
            </a:r>
            <a:endParaRPr lang="en-US" sz="1100" b="0" dirty="0">
              <a:solidFill>
                <a:srgbClr val="7030A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61753" y="2448979"/>
            <a:ext cx="1877437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LR’s </a:t>
            </a:r>
            <a:r>
              <a:rPr lang="en-US" sz="1200" b="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LR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80112" y="2448978"/>
            <a:ext cx="1858201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RF’s </a:t>
            </a:r>
            <a:r>
              <a:rPr lang="en-US" sz="1200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200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en-US" sz="1200" b="0" dirty="0">
              <a:solidFill>
                <a:srgbClr val="397B0D"/>
              </a:solidFill>
            </a:endParaRPr>
          </a:p>
          <a:p>
            <a:r>
              <a:rPr lang="en-US" sz="1199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397B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14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10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0" y="0"/>
            <a:ext cx="1331640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3529" y="2460286"/>
                <a:ext cx="8595688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fa-IR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sz="1600" b="0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fa-IR" sz="16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21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76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19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81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19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729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819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2460286"/>
                <a:ext cx="8595688" cy="579133"/>
              </a:xfrm>
              <a:prstGeom prst="rect">
                <a:avLst/>
              </a:prstGeom>
              <a:blipFill>
                <a:blip r:embed="rId2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4"/>
          <p:cNvSpPr txBox="1">
            <a:spLocks/>
          </p:cNvSpPr>
          <p:nvPr/>
        </p:nvSpPr>
        <p:spPr bwMode="auto">
          <a:xfrm>
            <a:off x="238467" y="1600943"/>
            <a:ext cx="8613447" cy="770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9pPr>
          </a:lstStyle>
          <a:p>
            <a:pPr marL="0" indent="0" algn="just">
              <a:buFontTx/>
              <a:buNone/>
            </a:pPr>
            <a:r>
              <a:rPr lang="en-US" sz="1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Trimmed Wavelengths (from X449.35 to X951.17)</a:t>
            </a:r>
            <a:endParaRPr lang="en-US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0785" y="2192379"/>
            <a:ext cx="6258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Using Logistic Regression’s SHAP FEATURES (All Wavelengths):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208525" y="3128483"/>
            <a:ext cx="823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Using Random Forest’s SHAP FEATURES inside 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(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Wavelengths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19 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99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31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  <a:blipFill>
                <a:blip r:embed="rId3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6" descr="Small plant cartoon Vector Images | Depositphot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1331640" y="424230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220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Proposed Formula/Indexes (Applying SHAP on the Train set, not Test set)</a:t>
            </a:r>
            <a:endParaRPr lang="en-US" sz="220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32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93" y="4763402"/>
            <a:ext cx="360041" cy="307777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11</a:t>
            </a:fld>
            <a:endParaRPr lang="ru-RU" altLang="ru-RU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678984" y="340296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60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kern="0" dirty="0" smtClean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6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pPr algn="ctr"/>
            <a:r>
              <a:rPr lang="en-US" sz="16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 modified Tran set (36 –</a:t>
            </a:r>
            <a:r>
              <a:rPr lang="en-US" sz="1600" kern="0" dirty="0" err="1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N+Fe</a:t>
            </a:r>
            <a:r>
              <a:rPr lang="en-US" sz="160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samples added )</a:t>
            </a:r>
          </a:p>
          <a:p>
            <a:pPr algn="ctr"/>
            <a:endParaRPr lang="en-US" sz="160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465848"/>
              </p:ext>
            </p:extLst>
          </p:nvPr>
        </p:nvGraphicFramePr>
        <p:xfrm>
          <a:off x="1619672" y="1107989"/>
          <a:ext cx="3456385" cy="841205"/>
        </p:xfrm>
        <a:graphic>
          <a:graphicData uri="http://schemas.openxmlformats.org/drawingml/2006/table">
            <a:tbl>
              <a:tblPr firstRow="1" firstCol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36182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13743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6630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82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0.699</a:t>
                      </a:r>
                      <a:endParaRPr lang="en-US" sz="1100" strike="sng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2621543" y="1920568"/>
            <a:ext cx="14526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kern="0" dirty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6920408" y="1979901"/>
            <a:ext cx="11304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1200" b="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527436"/>
              </p:ext>
            </p:extLst>
          </p:nvPr>
        </p:nvGraphicFramePr>
        <p:xfrm>
          <a:off x="5373279" y="1107989"/>
          <a:ext cx="3608656" cy="849794"/>
        </p:xfrm>
        <a:graphic>
          <a:graphicData uri="http://schemas.openxmlformats.org/drawingml/2006/table">
            <a:tbl>
              <a:tblPr firstRow="1" firstCol="1" bandRow="1"/>
              <a:tblGrid>
                <a:gridCol w="1354885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812931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45186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95654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74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0.62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733600" y="2395263"/>
            <a:ext cx="7080448" cy="335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endParaRPr lang="en-US" sz="1400" b="0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in 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60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Wavelengths</a:t>
            </a:r>
            <a:r>
              <a:rPr lang="en-US" sz="14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4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sz="1400" kern="0" dirty="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1400" b="0" kern="0" dirty="0" smtClean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157244"/>
              </p:ext>
            </p:extLst>
          </p:nvPr>
        </p:nvGraphicFramePr>
        <p:xfrm>
          <a:off x="1403647" y="2847275"/>
          <a:ext cx="3456385" cy="841205"/>
        </p:xfrm>
        <a:graphic>
          <a:graphicData uri="http://schemas.openxmlformats.org/drawingml/2006/table">
            <a:tbl>
              <a:tblPr firstRow="1" firstCol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36182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13743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6630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82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0.96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148666"/>
              </p:ext>
            </p:extLst>
          </p:nvPr>
        </p:nvGraphicFramePr>
        <p:xfrm>
          <a:off x="5257800" y="2838686"/>
          <a:ext cx="3608656" cy="849794"/>
        </p:xfrm>
        <a:graphic>
          <a:graphicData uri="http://schemas.openxmlformats.org/drawingml/2006/table">
            <a:tbl>
              <a:tblPr firstRow="1" firstCol="1" bandRow="1"/>
              <a:tblGrid>
                <a:gridCol w="1354885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812931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45186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95654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74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0.70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987824" y="4732784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100" b="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Forest’s SHAP </a:t>
            </a:r>
            <a:r>
              <a:rPr lang="en-US" sz="1100" b="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in LR</a:t>
            </a:r>
            <a:endParaRPr lang="en-US" sz="1100" b="0" dirty="0">
              <a:solidFill>
                <a:srgbClr val="7030A0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98638"/>
              </p:ext>
            </p:extLst>
          </p:nvPr>
        </p:nvGraphicFramePr>
        <p:xfrm>
          <a:off x="3491879" y="4021709"/>
          <a:ext cx="3456385" cy="726949"/>
        </p:xfrm>
        <a:graphic>
          <a:graphicData uri="http://schemas.openxmlformats.org/drawingml/2006/table">
            <a:tbl>
              <a:tblPr firstRow="1" firstCol="1" bandRow="1"/>
              <a:tblGrid>
                <a:gridCol w="1440160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36182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13743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66630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0.97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262515" y="3656789"/>
            <a:ext cx="1877437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LR’s </a:t>
            </a:r>
            <a:r>
              <a:rPr lang="en-US" sz="1200" b="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LR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95639" y="3676682"/>
            <a:ext cx="1858201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RF’s </a:t>
            </a:r>
            <a:r>
              <a:rPr lang="en-US" sz="1200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200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en-US" sz="1200" b="0" dirty="0">
              <a:solidFill>
                <a:srgbClr val="397B0D"/>
              </a:solidFill>
            </a:endParaRPr>
          </a:p>
          <a:p>
            <a:r>
              <a:rPr lang="en-US" sz="1199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397B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66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12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0" y="0"/>
            <a:ext cx="1331640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3529" y="2460286"/>
                <a:ext cx="8595688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59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44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64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51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729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819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2460286"/>
                <a:ext cx="8595688" cy="579133"/>
              </a:xfrm>
              <a:prstGeom prst="rect">
                <a:avLst/>
              </a:prstGeom>
              <a:blipFill>
                <a:blip r:embed="rId2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4"/>
          <p:cNvSpPr txBox="1">
            <a:spLocks/>
          </p:cNvSpPr>
          <p:nvPr/>
        </p:nvSpPr>
        <p:spPr bwMode="auto">
          <a:xfrm>
            <a:off x="238467" y="1600943"/>
            <a:ext cx="8613447" cy="770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9pPr>
          </a:lstStyle>
          <a:p>
            <a:pPr marL="0" indent="0" algn="just">
              <a:buFontTx/>
              <a:buNone/>
            </a:pPr>
            <a:r>
              <a:rPr lang="en-US" sz="1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Trimmed Wavelengths (from X449.35 to X951.17)</a:t>
            </a:r>
            <a:endParaRPr lang="en-US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0785" y="2192379"/>
            <a:ext cx="6258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Using Logistic Regression’s SHAP FEATURES (All Wavelengths):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208525" y="3128483"/>
            <a:ext cx="823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Using Random Forest’s SHAP FEATURES inside 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(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Wavelengths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44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  <a:blipFill>
                <a:blip r:embed="rId3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6" descr="Small plant cartoon Vector Images | Depositphot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1331640" y="424230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for New Train Set</a:t>
            </a:r>
          </a:p>
          <a:p>
            <a:pPr algn="ctr"/>
            <a:r>
              <a:rPr lang="en-US" sz="220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Proposed Formula/Indexes (Applying SHAP on the Train set, not Test set)</a:t>
            </a:r>
            <a:endParaRPr lang="en-US" sz="220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26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93" y="4763402"/>
            <a:ext cx="360041" cy="307777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13</a:t>
            </a:fld>
            <a:endParaRPr lang="ru-RU" altLang="ru-RU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678984" y="340296"/>
            <a:ext cx="7080448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b="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States and Results</a:t>
            </a:r>
            <a:r>
              <a:rPr lang="en-US" sz="16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kern="0" dirty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1600" b="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b="0" kern="0" dirty="0">
                <a:solidFill>
                  <a:srgbClr val="FF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algn="ctr"/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New</a:t>
            </a:r>
            <a:r>
              <a:rPr lang="en-US" sz="1600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6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Wavelengths</a:t>
            </a:r>
            <a:r>
              <a:rPr lang="en-US" sz="1600" b="0" kern="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sz="1600" kern="0" dirty="0">
              <a:solidFill>
                <a:srgbClr val="000000"/>
              </a:solidFill>
              <a:latin typeface="Arial" charset="0"/>
            </a:endParaRPr>
          </a:p>
          <a:p>
            <a:pPr algn="ctr"/>
            <a:endParaRPr lang="en-US" sz="1600" b="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600377"/>
              </p:ext>
            </p:extLst>
          </p:nvPr>
        </p:nvGraphicFramePr>
        <p:xfrm>
          <a:off x="1331640" y="1474658"/>
          <a:ext cx="3672407" cy="841205"/>
        </p:xfrm>
        <a:graphic>
          <a:graphicData uri="http://schemas.openxmlformats.org/drawingml/2006/table">
            <a:tbl>
              <a:tblPr firstRow="1" firstCol="1" bandRow="1"/>
              <a:tblGrid>
                <a:gridCol w="1530169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675943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58352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707943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82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0.90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716996"/>
              </p:ext>
            </p:extLst>
          </p:nvPr>
        </p:nvGraphicFramePr>
        <p:xfrm>
          <a:off x="5148064" y="1466069"/>
          <a:ext cx="3833870" cy="849794"/>
        </p:xfrm>
        <a:graphic>
          <a:graphicData uri="http://schemas.openxmlformats.org/drawingml/2006/table">
            <a:tbl>
              <a:tblPr firstRow="1" firstCol="1" bandRow="1"/>
              <a:tblGrid>
                <a:gridCol w="1439442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863666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91692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739070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491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74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0.72</a:t>
                      </a:r>
                      <a:endParaRPr lang="en-US" sz="1100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843808" y="3636833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100" b="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Forest’s</a:t>
            </a:r>
          </a:p>
          <a:p>
            <a:pPr algn="ctr"/>
            <a:r>
              <a:rPr lang="en-US" sz="1100" b="0" kern="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100" b="0" kern="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in LR</a:t>
            </a:r>
            <a:endParaRPr lang="en-US" sz="1100" b="0" dirty="0">
              <a:solidFill>
                <a:srgbClr val="7030A0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492650"/>
              </p:ext>
            </p:extLst>
          </p:nvPr>
        </p:nvGraphicFramePr>
        <p:xfrm>
          <a:off x="3167843" y="2992070"/>
          <a:ext cx="3816424" cy="547562"/>
        </p:xfrm>
        <a:graphic>
          <a:graphicData uri="http://schemas.openxmlformats.org/drawingml/2006/table">
            <a:tbl>
              <a:tblPr firstRow="1" firstCol="1" bandRow="1"/>
              <a:tblGrid>
                <a:gridCol w="1590176">
                  <a:extLst>
                    <a:ext uri="{9D8B030D-6E8A-4147-A177-3AD203B41FA5}">
                      <a16:colId xmlns:a16="http://schemas.microsoft.com/office/drawing/2014/main" val="1059764811"/>
                    </a:ext>
                  </a:extLst>
                </a:gridCol>
                <a:gridCol w="702451">
                  <a:extLst>
                    <a:ext uri="{9D8B030D-6E8A-4147-A177-3AD203B41FA5}">
                      <a16:colId xmlns:a16="http://schemas.microsoft.com/office/drawing/2014/main" val="2014416948"/>
                    </a:ext>
                  </a:extLst>
                </a:gridCol>
                <a:gridCol w="788091">
                  <a:extLst>
                    <a:ext uri="{9D8B030D-6E8A-4147-A177-3AD203B41FA5}">
                      <a16:colId xmlns:a16="http://schemas.microsoft.com/office/drawing/2014/main" val="2617400131"/>
                    </a:ext>
                  </a:extLst>
                </a:gridCol>
                <a:gridCol w="735706">
                  <a:extLst>
                    <a:ext uri="{9D8B030D-6E8A-4147-A177-3AD203B41FA5}">
                      <a16:colId xmlns:a16="http://schemas.microsoft.com/office/drawing/2014/main" val="34749871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Dataset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Features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Split mode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33927"/>
                  </a:ext>
                </a:extLst>
              </a:tr>
              <a:tr h="252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Anna1+Anna2+Marco I+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Michele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All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-</a:t>
                      </a: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j-cs"/>
                        </a:rPr>
                        <a:t>0.88</a:t>
                      </a:r>
                      <a:endParaRPr lang="en-US" sz="110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67670" marR="67670" marT="93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677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229124" y="2315863"/>
            <a:ext cx="1877437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LR’s </a:t>
            </a:r>
            <a:r>
              <a:rPr lang="en-US" sz="1200" b="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LR</a:t>
            </a: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199" b="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35898" y="2319787"/>
            <a:ext cx="1858201" cy="461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99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RF’s </a:t>
            </a:r>
            <a:r>
              <a:rPr lang="en-US" sz="1200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 in </a:t>
            </a:r>
            <a:r>
              <a:rPr lang="en-US" sz="1200" b="0" kern="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en-US" sz="1200" b="0" dirty="0">
              <a:solidFill>
                <a:srgbClr val="397B0D"/>
              </a:solidFill>
            </a:endParaRPr>
          </a:p>
          <a:p>
            <a:r>
              <a:rPr lang="en-US" sz="1199" b="0" kern="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99" b="0" dirty="0">
              <a:solidFill>
                <a:srgbClr val="397B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18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14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0" y="0"/>
            <a:ext cx="1331640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23529" y="2460286"/>
                <a:ext cx="8595688" cy="614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fa-IR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94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948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06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941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95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945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02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951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17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938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926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61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45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717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47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726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9" y="2460286"/>
                <a:ext cx="8595688" cy="614848"/>
              </a:xfrm>
              <a:prstGeom prst="rect">
                <a:avLst/>
              </a:prstGeom>
              <a:blipFill>
                <a:blip r:embed="rId2"/>
                <a:stretch>
                  <a:fillRect b="-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4"/>
          <p:cNvSpPr txBox="1">
            <a:spLocks/>
          </p:cNvSpPr>
          <p:nvPr/>
        </p:nvSpPr>
        <p:spPr bwMode="auto">
          <a:xfrm>
            <a:off x="238467" y="1600943"/>
            <a:ext cx="8613447" cy="770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9pPr>
          </a:lstStyle>
          <a:p>
            <a:pPr marL="0" indent="0" algn="just">
              <a:buFontTx/>
              <a:buNone/>
            </a:pPr>
            <a:r>
              <a:rPr lang="en-US" sz="1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Trimmed Wavelengths (from X449.35 to X951.17)</a:t>
            </a:r>
            <a:endParaRPr lang="en-US" sz="1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0785" y="2192379"/>
            <a:ext cx="6258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Using Logistic Regression’s SHAP FEATURES (All Wavelengths):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208525" y="3128483"/>
            <a:ext cx="823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Using Random Forest’s SHAP FEATURES inside 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(</a:t>
            </a:r>
            <a:r>
              <a:rPr lang="en-US" sz="16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Wavelengths</a:t>
            </a:r>
            <a:r>
              <a:rPr lang="en-US" sz="16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45</m:t>
                      </m:r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58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81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705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714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55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98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708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57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711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542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68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66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89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26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563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24</m:t>
                          </m:r>
                        </m:sub>
                      </m:sSub>
                      <m:r>
                        <a:rPr lang="en-US" sz="16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fa-IR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92</m:t>
                          </m:r>
                        </m:e>
                        <m:sub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530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96</m:t>
                          </m:r>
                        </m:sub>
                      </m:sSub>
                      <m:r>
                        <a:rPr lang="en-US" sz="16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7" y="3416515"/>
                <a:ext cx="7848872" cy="579133"/>
              </a:xfrm>
              <a:prstGeom prst="rect">
                <a:avLst/>
              </a:prstGeom>
              <a:blipFill>
                <a:blip r:embed="rId3"/>
                <a:stretch>
                  <a:fillRect b="-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6" descr="Small plant cartoon Vector Images | Depositphot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1331640" y="424230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for New Train Set, New SHAP Features</a:t>
            </a:r>
          </a:p>
          <a:p>
            <a:pPr algn="ctr"/>
            <a:r>
              <a:rPr lang="en-US" sz="220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Proposed Formula/Indexes (Applying SHAP on the Train set, not Test set)</a:t>
            </a:r>
            <a:endParaRPr lang="en-US" sz="220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2896" y="4841875"/>
            <a:ext cx="2133600" cy="200025"/>
          </a:xfrm>
        </p:spPr>
        <p:txBody>
          <a:bodyPr/>
          <a:lstStyle/>
          <a:p>
            <a:fld id="{6747EAC7-9E16-4F91-92F5-B839A0595459}" type="slidenum">
              <a:rPr lang="ru-RU" altLang="ru-RU"/>
              <a:pPr/>
              <a:t>15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835696" y="281851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200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 for “Values” in </a:t>
            </a:r>
            <a:r>
              <a:rPr lang="en-US" sz="200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of </a:t>
            </a:r>
            <a:r>
              <a:rPr lang="en-US" sz="200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 Slides</a:t>
            </a:r>
            <a:endParaRPr lang="en-US" sz="2000" kern="0" dirty="0">
              <a:solidFill>
                <a:schemeClr val="bg1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2192045" y="1204392"/>
            <a:ext cx="5760640" cy="2088232"/>
          </a:xfrm>
        </p:spPr>
        <p:txBody>
          <a:bodyPr/>
          <a:lstStyle/>
          <a:p>
            <a:pPr algn="just"/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High/Fairly high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high/fairly high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of this feature have a positive impact on the prediction in Summary/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plot.</a:t>
            </a:r>
          </a:p>
          <a:p>
            <a:pPr algn="just"/>
            <a:r>
              <a:rPr lang="en-US" sz="1600" dirty="0">
                <a:solidFill>
                  <a:srgbClr val="1B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Low/Fairly low: low/fairly low</a:t>
            </a: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of this feature have a positive impact on the prediction in Summary/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NP: No straightforward pattern was observed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BeeSwarm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plot. I have inserted the plot for your reference.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numerical values have been extracted from the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plots.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2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16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71297" y="4203223"/>
            <a:ext cx="6209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&amp; Frequency</a:t>
            </a:r>
          </a:p>
          <a:p>
            <a:pPr algn="just"/>
            <a:r>
              <a:rPr lang="en-US" sz="1400" b="0" dirty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0" dirty="0" smtClean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b="0" dirty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 </a:t>
            </a:r>
            <a:r>
              <a:rPr lang="en-US" sz="1400" b="0" dirty="0" smtClean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repetitions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(708, </a:t>
            </a:r>
            <a:r>
              <a:rPr lang="en-US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711) are </a:t>
            </a:r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932743" y="197795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8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8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endParaRPr lang="en-US" sz="18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705693"/>
              </p:ext>
            </p:extLst>
          </p:nvPr>
        </p:nvGraphicFramePr>
        <p:xfrm>
          <a:off x="2045196" y="960580"/>
          <a:ext cx="2819400" cy="2988745"/>
        </p:xfrm>
        <a:graphic>
          <a:graphicData uri="http://schemas.openxmlformats.org/drawingml/2006/table">
            <a:tbl>
              <a:tblPr/>
              <a:tblGrid>
                <a:gridCol w="1346851">
                  <a:extLst>
                    <a:ext uri="{9D8B030D-6E8A-4147-A177-3AD203B41FA5}">
                      <a16:colId xmlns:a16="http://schemas.microsoft.com/office/drawing/2014/main" val="2333247717"/>
                    </a:ext>
                  </a:extLst>
                </a:gridCol>
                <a:gridCol w="1472549">
                  <a:extLst>
                    <a:ext uri="{9D8B030D-6E8A-4147-A177-3AD203B41FA5}">
                      <a16:colId xmlns:a16="http://schemas.microsoft.com/office/drawing/2014/main" val="51466734"/>
                    </a:ext>
                  </a:extLst>
                </a:gridCol>
              </a:tblGrid>
              <a:tr h="43613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Features, Auto Split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667102"/>
                  </a:ext>
                </a:extLst>
              </a:tr>
              <a:tr h="5117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442804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1,59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133788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1.58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678077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1.36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424857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350426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X569.12,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587559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X557.36,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415620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X699.60,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 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884922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960456"/>
                  </a:ext>
                </a:extLst>
              </a:tr>
              <a:tr h="22676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0.93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X536.82,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74142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165622"/>
              </p:ext>
            </p:extLst>
          </p:nvPr>
        </p:nvGraphicFramePr>
        <p:xfrm>
          <a:off x="5287131" y="1021200"/>
          <a:ext cx="3101293" cy="2894554"/>
        </p:xfrm>
        <a:graphic>
          <a:graphicData uri="http://schemas.openxmlformats.org/drawingml/2006/table">
            <a:tbl>
              <a:tblPr/>
              <a:tblGrid>
                <a:gridCol w="1637702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63591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52446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All Features, Auto Split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344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4.3294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6.2523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2.4741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2.7901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4.4048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2.3650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2.4691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1.3493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0.1714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0.5854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X569.12: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1.9360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X557.36: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0.0679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0.5893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X699.60: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1.2864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1.8170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4.9857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92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1.2473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X536.82: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0.0132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06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17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8537" y="4268964"/>
            <a:ext cx="6209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&amp; Frequency</a:t>
            </a:r>
          </a:p>
          <a:p>
            <a:pPr marL="0" indent="0" algn="just">
              <a:buNone/>
            </a:pPr>
            <a:r>
              <a:rPr lang="en-US" sz="1400" b="0" dirty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Green = </a:t>
            </a:r>
            <a:r>
              <a:rPr lang="en-US" sz="1400" b="0" dirty="0" smtClean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repetitions</a:t>
            </a:r>
            <a:endParaRPr lang="en-US" sz="1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R</a:t>
            </a:r>
            <a:r>
              <a:rPr lang="en-US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 [702-717] is important</a:t>
            </a:r>
            <a:endParaRPr lang="en-US" sz="1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502374"/>
              </p:ext>
            </p:extLst>
          </p:nvPr>
        </p:nvGraphicFramePr>
        <p:xfrm>
          <a:off x="2051720" y="1095445"/>
          <a:ext cx="2854713" cy="2952324"/>
        </p:xfrm>
        <a:graphic>
          <a:graphicData uri="http://schemas.openxmlformats.org/drawingml/2006/table">
            <a:tbl>
              <a:tblPr/>
              <a:tblGrid>
                <a:gridCol w="1363436">
                  <a:extLst>
                    <a:ext uri="{9D8B030D-6E8A-4147-A177-3AD203B41FA5}">
                      <a16:colId xmlns:a16="http://schemas.microsoft.com/office/drawing/2014/main" val="2607506265"/>
                    </a:ext>
                  </a:extLst>
                </a:gridCol>
                <a:gridCol w="1491277">
                  <a:extLst>
                    <a:ext uri="{9D8B030D-6E8A-4147-A177-3AD203B41FA5}">
                      <a16:colId xmlns:a16="http://schemas.microsoft.com/office/drawing/2014/main" val="4015157661"/>
                    </a:ext>
                  </a:extLst>
                </a:gridCol>
              </a:tblGrid>
              <a:tr h="43082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Features, Auto Split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998970"/>
                  </a:ext>
                </a:extLst>
              </a:tr>
              <a:tr h="5054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679912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0.76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338319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0.75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465756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165075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0.65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X699.60,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 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73004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0.65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50906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0.57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07699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0.56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113647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674890"/>
                  </a:ext>
                </a:extLst>
              </a:tr>
              <a:tr h="22400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000" kern="12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0.44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761956"/>
                  </a:ext>
                </a:extLst>
              </a:tr>
            </a:tbl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619672" y="187967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8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8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endParaRPr lang="en-US" sz="18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956799"/>
              </p:ext>
            </p:extLst>
          </p:nvPr>
        </p:nvGraphicFramePr>
        <p:xfrm>
          <a:off x="5220072" y="1095445"/>
          <a:ext cx="2880320" cy="2952758"/>
        </p:xfrm>
        <a:graphic>
          <a:graphicData uri="http://schemas.openxmlformats.org/drawingml/2006/table">
            <a:tbl>
              <a:tblPr/>
              <a:tblGrid>
                <a:gridCol w="1487039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393281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579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Features, Auto Split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541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Intercept: 2.3001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3.0639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1.0693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1.2115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1.1213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1.0237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0.9722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0.9641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X699.60: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1.1955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1.2740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0.8591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0.3851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0.7293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0.7981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012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1.1248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18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18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4324648"/>
            <a:ext cx="6209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&amp; Frequency</a:t>
            </a:r>
          </a:p>
          <a:p>
            <a:pPr algn="just"/>
            <a:r>
              <a:rPr lang="en-US" sz="1200" b="0" dirty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Green = 2 </a:t>
            </a:r>
            <a:r>
              <a:rPr lang="en-US" sz="1200" b="0" dirty="0" smtClean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repetitions</a:t>
            </a:r>
            <a:endParaRPr lang="en-US" sz="12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R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 [711-717] is </a:t>
            </a:r>
            <a:r>
              <a:rPr lang="en-US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93757"/>
                  </p:ext>
                </p:extLst>
              </p:nvPr>
            </p:nvGraphicFramePr>
            <p:xfrm>
              <a:off x="1923435" y="916360"/>
              <a:ext cx="2792581" cy="3168352"/>
            </p:xfrm>
            <a:graphic>
              <a:graphicData uri="http://schemas.openxmlformats.org/drawingml/2006/table">
                <a:tbl>
                  <a:tblPr/>
                  <a:tblGrid>
                    <a:gridCol w="1333761">
                      <a:extLst>
                        <a:ext uri="{9D8B030D-6E8A-4147-A177-3AD203B41FA5}">
                          <a16:colId xmlns:a16="http://schemas.microsoft.com/office/drawing/2014/main" val="2690356766"/>
                        </a:ext>
                      </a:extLst>
                    </a:gridCol>
                    <a:gridCol w="1458820">
                      <a:extLst>
                        <a:ext uri="{9D8B030D-6E8A-4147-A177-3AD203B41FA5}">
                          <a16:colId xmlns:a16="http://schemas.microsoft.com/office/drawing/2014/main" val="47916544"/>
                        </a:ext>
                      </a:extLst>
                    </a:gridCol>
                  </a:tblGrid>
                  <a:tr h="462347">
                    <a:tc grid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Original Dataset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 Features,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100" b="1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Split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813747"/>
                      </a:ext>
                    </a:extLst>
                  </a:tr>
                  <a:tr h="54247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Linear Logistic Regression Values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Random Forest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5164381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X941.95,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0.74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X702.58,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3357883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X819.95,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4355174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9651528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868089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X822.98,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04626682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X948.10,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X542.68,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3069852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X945.02,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81401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X563.24,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7549906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X729.53,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X720.54,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9217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93757"/>
                  </p:ext>
                </p:extLst>
              </p:nvPr>
            </p:nvGraphicFramePr>
            <p:xfrm>
              <a:off x="1923435" y="916360"/>
              <a:ext cx="2792581" cy="3168352"/>
            </p:xfrm>
            <a:graphic>
              <a:graphicData uri="http://schemas.openxmlformats.org/drawingml/2006/table">
                <a:tbl>
                  <a:tblPr/>
                  <a:tblGrid>
                    <a:gridCol w="1333761">
                      <a:extLst>
                        <a:ext uri="{9D8B030D-6E8A-4147-A177-3AD203B41FA5}">
                          <a16:colId xmlns:a16="http://schemas.microsoft.com/office/drawing/2014/main" val="2690356766"/>
                        </a:ext>
                      </a:extLst>
                    </a:gridCol>
                    <a:gridCol w="1458820">
                      <a:extLst>
                        <a:ext uri="{9D8B030D-6E8A-4147-A177-3AD203B41FA5}">
                          <a16:colId xmlns:a16="http://schemas.microsoft.com/office/drawing/2014/main" val="47916544"/>
                        </a:ext>
                      </a:extLst>
                    </a:gridCol>
                  </a:tblGrid>
                  <a:tr h="462347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8" t="-7895" r="-436" b="-588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813747"/>
                      </a:ext>
                    </a:extLst>
                  </a:tr>
                  <a:tr h="54247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Linear Logistic Regression Values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Random Forest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95164381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X941.95,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0.74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X702.58,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3357883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X819.95,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4355174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9651528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868089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X822.98,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04626682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X948.10,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X542.68,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3069852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X945.02,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81401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X563.24,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7549906"/>
                      </a:ext>
                    </a:extLst>
                  </a:tr>
                  <a:tr h="240392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X729.53,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X720.54,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939217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587330" y="172424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8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8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endParaRPr lang="en-US" sz="18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788859"/>
              </p:ext>
            </p:extLst>
          </p:nvPr>
        </p:nvGraphicFramePr>
        <p:xfrm>
          <a:off x="5127753" y="921647"/>
          <a:ext cx="3168352" cy="3230354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717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 Prime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6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>
                          <a:solidFill>
                            <a:srgbClr val="000000"/>
                          </a:solidFill>
                        </a:rPr>
                        <a:t>Avg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Intercept: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4.0532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Averaged Intercept: 7.9441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X941.95: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1.1208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2.3470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X819.95: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1.9850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3.3880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4.1680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3.5668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3.6809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3.0598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X822.98: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1.8298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3.5459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X948.10: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1.1345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0.0108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X945.02: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0.9918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2.0401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4.1968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0.0432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1.1581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-0.4862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95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19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0520" y="4203223"/>
            <a:ext cx="6209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&amp; Frequency</a:t>
            </a:r>
          </a:p>
          <a:p>
            <a:pPr algn="just"/>
            <a:r>
              <a:rPr lang="en-US" sz="1400" b="0" dirty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Green = 2 </a:t>
            </a:r>
            <a:r>
              <a:rPr lang="en-US" sz="1400" b="0" dirty="0" smtClean="0">
                <a:solidFill>
                  <a:srgbClr val="12A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repetitions</a:t>
            </a:r>
            <a:endParaRPr lang="en-US" sz="1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R</a:t>
            </a:r>
            <a:r>
              <a:rPr lang="en-US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 </a:t>
            </a:r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705-717</a:t>
            </a:r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is important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5387648"/>
                  </p:ext>
                </p:extLst>
              </p:nvPr>
            </p:nvGraphicFramePr>
            <p:xfrm>
              <a:off x="2051720" y="1173055"/>
              <a:ext cx="2695662" cy="2710842"/>
            </p:xfrm>
            <a:graphic>
              <a:graphicData uri="http://schemas.openxmlformats.org/drawingml/2006/table">
                <a:tbl>
                  <a:tblPr/>
                  <a:tblGrid>
                    <a:gridCol w="1287472">
                      <a:extLst>
                        <a:ext uri="{9D8B030D-6E8A-4147-A177-3AD203B41FA5}">
                          <a16:colId xmlns:a16="http://schemas.microsoft.com/office/drawing/2014/main" val="3658897591"/>
                        </a:ext>
                      </a:extLst>
                    </a:gridCol>
                    <a:gridCol w="1408190">
                      <a:extLst>
                        <a:ext uri="{9D8B030D-6E8A-4147-A177-3AD203B41FA5}">
                          <a16:colId xmlns:a16="http://schemas.microsoft.com/office/drawing/2014/main" val="4083555137"/>
                        </a:ext>
                      </a:extLst>
                    </a:gridCol>
                  </a:tblGrid>
                  <a:tr h="395586">
                    <a:tc gridSpan="2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Original Dataset</a:t>
                          </a:r>
                          <a:r>
                            <a:rPr lang="en-US" sz="1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Some Features,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́"/>
                                  <m:ctrlPr>
                                    <a:rPr lang="en-US" sz="11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1" i="1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100" b="1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Prime Split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2866596"/>
                      </a:ext>
                    </a:extLst>
                  </a:tr>
                  <a:tr h="4641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Linear Logistic Regression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Random Forest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6436757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2423636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8685268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X702.58,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19708883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522747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X753.55,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8894908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X756.56,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622025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X699.60,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9313042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X822.98,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X563.24,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4257262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X807.84,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X545.62,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37885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5387648"/>
                  </p:ext>
                </p:extLst>
              </p:nvPr>
            </p:nvGraphicFramePr>
            <p:xfrm>
              <a:off x="2051720" y="1173055"/>
              <a:ext cx="2695662" cy="2710842"/>
            </p:xfrm>
            <a:graphic>
              <a:graphicData uri="http://schemas.openxmlformats.org/drawingml/2006/table">
                <a:tbl>
                  <a:tblPr/>
                  <a:tblGrid>
                    <a:gridCol w="1287472">
                      <a:extLst>
                        <a:ext uri="{9D8B030D-6E8A-4147-A177-3AD203B41FA5}">
                          <a16:colId xmlns:a16="http://schemas.microsoft.com/office/drawing/2014/main" val="3658897591"/>
                        </a:ext>
                      </a:extLst>
                    </a:gridCol>
                    <a:gridCol w="1408190">
                      <a:extLst>
                        <a:ext uri="{9D8B030D-6E8A-4147-A177-3AD203B41FA5}">
                          <a16:colId xmlns:a16="http://schemas.microsoft.com/office/drawing/2014/main" val="4083555137"/>
                        </a:ext>
                      </a:extLst>
                    </a:gridCol>
                  </a:tblGrid>
                  <a:tr h="39558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6" t="-9231" r="-451" b="-5938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2866596"/>
                      </a:ext>
                    </a:extLst>
                  </a:tr>
                  <a:tr h="4641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Linear Logistic Regression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1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Random Forest Values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6436757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2423636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X711.56,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8685268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X702.58,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0.03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19708883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X708.57,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X717.54,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522747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X753.55,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8894908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X756.56,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X714.55,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0.02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622025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X705.57,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0.58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5E0B3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X699.60,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9313042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X822.98, </a:t>
                          </a:r>
                          <a:r>
                            <a:rPr lang="en-US" sz="1000" kern="120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Low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0.55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X563.24,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4257262"/>
                      </a:ext>
                    </a:extLst>
                  </a:tr>
                  <a:tr h="205679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X807.84, </a:t>
                          </a:r>
                          <a:r>
                            <a:rPr lang="en-US" sz="1000" kern="120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High</a:t>
                          </a:r>
                          <a:r>
                            <a:rPr lang="en-US" sz="1000" kern="12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0.53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marL="0" marR="0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X545.62, </a:t>
                          </a:r>
                          <a:r>
                            <a:rPr lang="en-US" sz="1000" kern="1200" dirty="0">
                              <a:solidFill>
                                <a:srgbClr val="C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NP</a:t>
                          </a:r>
                          <a:r>
                            <a:rPr lang="en-US" sz="1000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0.01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9525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37885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835696" y="220423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8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8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endParaRPr lang="en-US" sz="18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30789"/>
              </p:ext>
            </p:extLst>
          </p:nvPr>
        </p:nvGraphicFramePr>
        <p:xfrm>
          <a:off x="5052189" y="1041697"/>
          <a:ext cx="3240361" cy="3161526"/>
        </p:xfrm>
        <a:graphic>
          <a:graphicData uri="http://schemas.openxmlformats.org/drawingml/2006/table">
            <a:tbl>
              <a:tblPr/>
              <a:tblGrid>
                <a:gridCol w="1630342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610019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877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Original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 Prime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27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31472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 smtClean="0">
                          <a:solidFill>
                            <a:srgbClr val="000000"/>
                          </a:solidFill>
                        </a:rPr>
                        <a:t>Avg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 Intercept: 4.0698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Avg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6.7436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2.3270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2.7625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2.0583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2.7578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2.3643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1.7994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1.8129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1.5362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0.7950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2.3455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0.8024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2.6718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1.49224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X699.60: 1.0591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X822.98: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0.0001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09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0.6406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0.0774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20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20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691680" y="158058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I</a:t>
            </a:r>
            <a:endParaRPr lang="en-US" sz="1900" b="0" kern="0" dirty="0" smtClean="0">
              <a:solidFill>
                <a:srgbClr val="FF4343"/>
              </a:solidFill>
              <a:latin typeface="Arial" charset="0"/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403648" y="4033788"/>
            <a:ext cx="3456384" cy="1008112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708-717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908378"/>
              </p:ext>
            </p:extLst>
          </p:nvPr>
        </p:nvGraphicFramePr>
        <p:xfrm>
          <a:off x="1907704" y="1051461"/>
          <a:ext cx="2664297" cy="2684669"/>
        </p:xfrm>
        <a:graphic>
          <a:graphicData uri="http://schemas.openxmlformats.org/drawingml/2006/table">
            <a:tbl>
              <a:tblPr/>
              <a:tblGrid>
                <a:gridCol w="1272492">
                  <a:extLst>
                    <a:ext uri="{9D8B030D-6E8A-4147-A177-3AD203B41FA5}">
                      <a16:colId xmlns:a16="http://schemas.microsoft.com/office/drawing/2014/main" val="300331630"/>
                    </a:ext>
                  </a:extLst>
                </a:gridCol>
                <a:gridCol w="1391805">
                  <a:extLst>
                    <a:ext uri="{9D8B030D-6E8A-4147-A177-3AD203B41FA5}">
                      <a16:colId xmlns:a16="http://schemas.microsoft.com/office/drawing/2014/main" val="3145241565"/>
                    </a:ext>
                  </a:extLst>
                </a:gridCol>
              </a:tblGrid>
              <a:tr h="33861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 I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38513"/>
                  </a:ext>
                </a:extLst>
              </a:tr>
              <a:tr h="523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45326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230994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68070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1.45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311621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92008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428059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85729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701806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X819.95,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956992"/>
                  </a:ext>
                </a:extLst>
              </a:tr>
              <a:tr h="20245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X557.36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23737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859142"/>
              </p:ext>
            </p:extLst>
          </p:nvPr>
        </p:nvGraphicFramePr>
        <p:xfrm>
          <a:off x="4876602" y="918445"/>
          <a:ext cx="3372625" cy="3017682"/>
        </p:xfrm>
        <a:graphic>
          <a:graphicData uri="http://schemas.openxmlformats.org/drawingml/2006/table">
            <a:tbl>
              <a:tblPr/>
              <a:tblGrid>
                <a:gridCol w="1717440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655185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7692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 Dataset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660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6.2151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7.4845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4.7333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2.2528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3.7601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4.1967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2.8069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1.5390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3.1755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3.8109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3.1158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0.1989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1.5841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1.2555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X819.95: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0.9823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0.2638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065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1.7588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X557.36: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0.1400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85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21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616902" y="225125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900" b="0" kern="0" dirty="0">
              <a:solidFill>
                <a:srgbClr val="FF4343"/>
              </a:solidFill>
              <a:latin typeface="Arial" charset="0"/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70889" y="3796680"/>
            <a:ext cx="3600400" cy="864096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708, 711, 717)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51452"/>
              </p:ext>
            </p:extLst>
          </p:nvPr>
        </p:nvGraphicFramePr>
        <p:xfrm>
          <a:off x="2195736" y="1119896"/>
          <a:ext cx="2736304" cy="2495685"/>
        </p:xfrm>
        <a:graphic>
          <a:graphicData uri="http://schemas.openxmlformats.org/drawingml/2006/table">
            <a:tbl>
              <a:tblPr/>
              <a:tblGrid>
                <a:gridCol w="1306883">
                  <a:extLst>
                    <a:ext uri="{9D8B030D-6E8A-4147-A177-3AD203B41FA5}">
                      <a16:colId xmlns:a16="http://schemas.microsoft.com/office/drawing/2014/main" val="3381347693"/>
                    </a:ext>
                  </a:extLst>
                </a:gridCol>
                <a:gridCol w="1429421">
                  <a:extLst>
                    <a:ext uri="{9D8B030D-6E8A-4147-A177-3AD203B41FA5}">
                      <a16:colId xmlns:a16="http://schemas.microsoft.com/office/drawing/2014/main" val="1998308867"/>
                    </a:ext>
                  </a:extLst>
                </a:gridCol>
              </a:tblGrid>
              <a:tr h="36418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733488"/>
                  </a:ext>
                </a:extLst>
              </a:tr>
              <a:tr h="4273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40168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2.15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031064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903656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X756.56,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1.97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331777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1.91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160197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035964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X648.95,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310322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1.33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32941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X607.46,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84742"/>
                  </a:ext>
                </a:extLst>
              </a:tr>
              <a:tr h="18935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X807.84,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01338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67196"/>
              </p:ext>
            </p:extLst>
          </p:nvPr>
        </p:nvGraphicFramePr>
        <p:xfrm>
          <a:off x="5292080" y="988368"/>
          <a:ext cx="3035404" cy="3096340"/>
        </p:xfrm>
        <a:graphic>
          <a:graphicData uri="http://schemas.openxmlformats.org/drawingml/2006/table">
            <a:tbl>
              <a:tblPr/>
              <a:tblGrid>
                <a:gridCol w="160331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32090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9087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 Dataset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97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2.6467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6.4210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4.1872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0.6876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2.2730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4.2665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0.4481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1.2908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0.5545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1.1899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X648.95: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1.0915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1.0482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3.1072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X607.46: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25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0.4051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53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22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763688" y="134657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II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31640" y="3998357"/>
            <a:ext cx="3456384" cy="936104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705-717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005403"/>
              </p:ext>
            </p:extLst>
          </p:nvPr>
        </p:nvGraphicFramePr>
        <p:xfrm>
          <a:off x="2051720" y="1132384"/>
          <a:ext cx="2880320" cy="2540145"/>
        </p:xfrm>
        <a:graphic>
          <a:graphicData uri="http://schemas.openxmlformats.org/drawingml/2006/table">
            <a:tbl>
              <a:tblPr/>
              <a:tblGrid>
                <a:gridCol w="1375666">
                  <a:extLst>
                    <a:ext uri="{9D8B030D-6E8A-4147-A177-3AD203B41FA5}">
                      <a16:colId xmlns:a16="http://schemas.microsoft.com/office/drawing/2014/main" val="452436299"/>
                    </a:ext>
                  </a:extLst>
                </a:gridCol>
                <a:gridCol w="1504654">
                  <a:extLst>
                    <a:ext uri="{9D8B030D-6E8A-4147-A177-3AD203B41FA5}">
                      <a16:colId xmlns:a16="http://schemas.microsoft.com/office/drawing/2014/main" val="2689884544"/>
                    </a:ext>
                  </a:extLst>
                </a:gridCol>
              </a:tblGrid>
              <a:tr h="37067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141936"/>
                  </a:ext>
                </a:extLst>
              </a:tr>
              <a:tr h="434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157488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1.57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693207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1.52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577886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1.38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587924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569623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716909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088299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088943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030346"/>
                  </a:ext>
                </a:extLst>
              </a:tr>
              <a:tr h="1927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0.97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X557.36,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51709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890740"/>
              </p:ext>
            </p:extLst>
          </p:nvPr>
        </p:nvGraphicFramePr>
        <p:xfrm>
          <a:off x="5148064" y="1132384"/>
          <a:ext cx="3178696" cy="2892466"/>
        </p:xfrm>
        <a:graphic>
          <a:graphicData uri="http://schemas.openxmlformats.org/drawingml/2006/table">
            <a:tbl>
              <a:tblPr/>
              <a:tblGrid>
                <a:gridCol w="1662135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516561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597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 Dataset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430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4.9573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7.4845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2.2528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2.7198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2.6322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2.8069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2.1516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3.1755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1.4670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3.1158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0.5946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1.5841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0.6833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1.7990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0.2638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963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1.3812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X557.36: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0.1400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43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23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73659" y="3933775"/>
            <a:ext cx="3672408" cy="1008112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708, 711, 717)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543801"/>
              </p:ext>
            </p:extLst>
          </p:nvPr>
        </p:nvGraphicFramePr>
        <p:xfrm>
          <a:off x="1979712" y="1094887"/>
          <a:ext cx="2748335" cy="2621159"/>
        </p:xfrm>
        <a:graphic>
          <a:graphicData uri="http://schemas.openxmlformats.org/drawingml/2006/table">
            <a:tbl>
              <a:tblPr/>
              <a:tblGrid>
                <a:gridCol w="1312629">
                  <a:extLst>
                    <a:ext uri="{9D8B030D-6E8A-4147-A177-3AD203B41FA5}">
                      <a16:colId xmlns:a16="http://schemas.microsoft.com/office/drawing/2014/main" val="633235179"/>
                    </a:ext>
                  </a:extLst>
                </a:gridCol>
                <a:gridCol w="1435706">
                  <a:extLst>
                    <a:ext uri="{9D8B030D-6E8A-4147-A177-3AD203B41FA5}">
                      <a16:colId xmlns:a16="http://schemas.microsoft.com/office/drawing/2014/main" val="1212621536"/>
                    </a:ext>
                  </a:extLst>
                </a:gridCol>
              </a:tblGrid>
              <a:tr h="38249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Some Features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76752"/>
                  </a:ext>
                </a:extLst>
              </a:tr>
              <a:tr h="4487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631560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07658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1.94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097764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X756.56,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1.83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0.09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886374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822875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1.79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585302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22053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X648.95,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088050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X607.46,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645259"/>
                  </a:ext>
                </a:extLst>
              </a:tr>
              <a:tr h="198875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X807.84,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465947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91680" y="248607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II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57441"/>
              </p:ext>
            </p:extLst>
          </p:nvPr>
        </p:nvGraphicFramePr>
        <p:xfrm>
          <a:off x="5046067" y="1079020"/>
          <a:ext cx="3148707" cy="2854755"/>
        </p:xfrm>
        <a:graphic>
          <a:graphicData uri="http://schemas.openxmlformats.org/drawingml/2006/table">
            <a:tbl>
              <a:tblPr/>
              <a:tblGrid>
                <a:gridCol w="1706201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42506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4623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Anna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 Dataset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360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2.6467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6.4210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4.1872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0.6876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2.2730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4.2665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1.2908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0.4481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0.5545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1.1899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3.1072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1.0482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X648.95: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1.0915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X607.46: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932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0.4051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56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24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259632" y="4078562"/>
            <a:ext cx="3456384" cy="1080120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708-720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63014"/>
              </p:ext>
            </p:extLst>
          </p:nvPr>
        </p:nvGraphicFramePr>
        <p:xfrm>
          <a:off x="1979712" y="1164156"/>
          <a:ext cx="2904619" cy="2564525"/>
        </p:xfrm>
        <a:graphic>
          <a:graphicData uri="http://schemas.openxmlformats.org/drawingml/2006/table">
            <a:tbl>
              <a:tblPr/>
              <a:tblGrid>
                <a:gridCol w="1387272">
                  <a:extLst>
                    <a:ext uri="{9D8B030D-6E8A-4147-A177-3AD203B41FA5}">
                      <a16:colId xmlns:a16="http://schemas.microsoft.com/office/drawing/2014/main" val="3142347117"/>
                    </a:ext>
                  </a:extLst>
                </a:gridCol>
                <a:gridCol w="1517347">
                  <a:extLst>
                    <a:ext uri="{9D8B030D-6E8A-4147-A177-3AD203B41FA5}">
                      <a16:colId xmlns:a16="http://schemas.microsoft.com/office/drawing/2014/main" val="1846074060"/>
                    </a:ext>
                  </a:extLst>
                </a:gridCol>
              </a:tblGrid>
              <a:tr h="3742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615946"/>
                  </a:ext>
                </a:extLst>
              </a:tr>
              <a:tr h="439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787924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425649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1.58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0750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709356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717071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35242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X819.95,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55855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871742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243746"/>
                  </a:ext>
                </a:extLst>
              </a:tr>
              <a:tr h="19457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X750.54,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14666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91680" y="248607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048976"/>
              </p:ext>
            </p:extLst>
          </p:nvPr>
        </p:nvGraphicFramePr>
        <p:xfrm>
          <a:off x="5220072" y="1160147"/>
          <a:ext cx="3113166" cy="2798622"/>
        </p:xfrm>
        <a:graphic>
          <a:graphicData uri="http://schemas.openxmlformats.org/drawingml/2006/table">
            <a:tbl>
              <a:tblPr/>
              <a:tblGrid>
                <a:gridCol w="1538881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574285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15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23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4.6265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7.1975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2.7322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2.1373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2.5769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2.9925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2.4944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2.7387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0.4406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3.1443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2.2183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3.1532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X819.95: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1.8365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1.0816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0.1164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2.1722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87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X750.54: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3.4669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0.3160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67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25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187624" y="4108796"/>
            <a:ext cx="4248472" cy="876669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708, 711, 717)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164287"/>
              </p:ext>
            </p:extLst>
          </p:nvPr>
        </p:nvGraphicFramePr>
        <p:xfrm>
          <a:off x="1979712" y="1140524"/>
          <a:ext cx="2904619" cy="2672100"/>
        </p:xfrm>
        <a:graphic>
          <a:graphicData uri="http://schemas.openxmlformats.org/drawingml/2006/table">
            <a:tbl>
              <a:tblPr/>
              <a:tblGrid>
                <a:gridCol w="1387272">
                  <a:extLst>
                    <a:ext uri="{9D8B030D-6E8A-4147-A177-3AD203B41FA5}">
                      <a16:colId xmlns:a16="http://schemas.microsoft.com/office/drawing/2014/main" val="1723176458"/>
                    </a:ext>
                  </a:extLst>
                </a:gridCol>
                <a:gridCol w="1517347">
                  <a:extLst>
                    <a:ext uri="{9D8B030D-6E8A-4147-A177-3AD203B41FA5}">
                      <a16:colId xmlns:a16="http://schemas.microsoft.com/office/drawing/2014/main" val="2739419423"/>
                    </a:ext>
                  </a:extLst>
                </a:gridCol>
              </a:tblGrid>
              <a:tr h="38993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295829"/>
                  </a:ext>
                </a:extLst>
              </a:tr>
              <a:tr h="4575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086524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2.44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90999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X756.56, </a:t>
                      </a:r>
                      <a:r>
                        <a:rPr lang="en-US" sz="1000" kern="120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2.28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714744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217180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High,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1.86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402897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805201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X575.01,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814644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X807.84,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1.34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X648.95,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242648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 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044326"/>
                  </a:ext>
                </a:extLst>
              </a:tr>
              <a:tr h="20274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X880.74,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X607.46,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572979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91680" y="248607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95335"/>
              </p:ext>
            </p:extLst>
          </p:nvPr>
        </p:nvGraphicFramePr>
        <p:xfrm>
          <a:off x="5148064" y="1097507"/>
          <a:ext cx="3133746" cy="3060445"/>
        </p:xfrm>
        <a:graphic>
          <a:graphicData uri="http://schemas.openxmlformats.org/drawingml/2006/table">
            <a:tbl>
              <a:tblPr/>
              <a:tblGrid>
                <a:gridCol w="1687375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46371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498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3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2.7404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6.3480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0.5477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4.2216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0.5678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2.2250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1.6474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4.3132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1.7005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0.4206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1.4942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0.5282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1.3356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X575.01: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0.4795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0.0483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X648.95: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1.2223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1.1393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3.1287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0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X880.74: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0.1786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X607.46: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0.1225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32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26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31640" y="4107853"/>
            <a:ext cx="3456384" cy="834034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705-720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83490"/>
              </p:ext>
            </p:extLst>
          </p:nvPr>
        </p:nvGraphicFramePr>
        <p:xfrm>
          <a:off x="1979712" y="1062853"/>
          <a:ext cx="2664296" cy="2821738"/>
        </p:xfrm>
        <a:graphic>
          <a:graphicData uri="http://schemas.openxmlformats.org/drawingml/2006/table">
            <a:tbl>
              <a:tblPr/>
              <a:tblGrid>
                <a:gridCol w="1272942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1391354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4115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815"/>
                  </a:ext>
                </a:extLst>
              </a:tr>
              <a:tr h="483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1,56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51259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1.14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981789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7596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43618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0.96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12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026339"/>
              </p:ext>
            </p:extLst>
          </p:nvPr>
        </p:nvGraphicFramePr>
        <p:xfrm>
          <a:off x="5004048" y="1041178"/>
          <a:ext cx="3133328" cy="3066732"/>
        </p:xfrm>
        <a:graphic>
          <a:graphicData uri="http://schemas.openxmlformats.org/drawingml/2006/table">
            <a:tbl>
              <a:tblPr/>
              <a:tblGrid>
                <a:gridCol w="166666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66664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616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5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4.9573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7.1975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2.1373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2.7198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2.9925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2.6322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2.7387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1.4670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3.1443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2.1516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3.1532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0.5946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1.8365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0.6833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1.7990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0.1164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1.3812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-0.3160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15616" y="196280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on Test</a:t>
            </a: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2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27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31640" y="4107853"/>
            <a:ext cx="3456384" cy="834034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705-720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05716"/>
              </p:ext>
            </p:extLst>
          </p:nvPr>
        </p:nvGraphicFramePr>
        <p:xfrm>
          <a:off x="1979712" y="1062853"/>
          <a:ext cx="2880320" cy="2821738"/>
        </p:xfrm>
        <a:graphic>
          <a:graphicData uri="http://schemas.openxmlformats.org/drawingml/2006/table">
            <a:tbl>
              <a:tblPr/>
              <a:tblGrid>
                <a:gridCol w="1376154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1504166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4115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815"/>
                  </a:ext>
                </a:extLst>
              </a:tr>
              <a:tr h="483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51259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</a:t>
                      </a:r>
                      <a:r>
                        <a:rPr lang="en-US" sz="1000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9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981789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7596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43618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i="1" u="sng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X819.95</a:t>
                      </a:r>
                      <a:r>
                        <a:rPr lang="en-US" sz="1000" i="1" u="sng" kern="1200" dirty="0" smtClean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Low</a:t>
                      </a:r>
                      <a:r>
                        <a:rPr lang="en-US" sz="1000" i="1" u="sng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0.99</a:t>
                      </a:r>
                      <a:endParaRPr lang="en-US" sz="1100" i="1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12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29781"/>
              </p:ext>
            </p:extLst>
          </p:nvPr>
        </p:nvGraphicFramePr>
        <p:xfrm>
          <a:off x="5292080" y="941227"/>
          <a:ext cx="3133328" cy="3066732"/>
        </p:xfrm>
        <a:graphic>
          <a:graphicData uri="http://schemas.openxmlformats.org/drawingml/2006/table">
            <a:tbl>
              <a:tblPr/>
              <a:tblGrid>
                <a:gridCol w="166666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66664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616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5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6.21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4.73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3.76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4.19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1.53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3.81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-1.25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-1.75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X819.95: -0.98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15616" y="196280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in Formula, USE SHAP IN TRIAN PHASE</a:t>
            </a: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32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28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15616" y="196280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6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Reduction</a:t>
            </a:r>
            <a:endParaRPr lang="fa-IR" sz="1600" kern="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in Formula, USE SHAP IN TRAIN PHASE</a:t>
            </a:r>
          </a:p>
          <a:p>
            <a:pPr algn="ctr"/>
            <a:r>
              <a:rPr lang="en-US" sz="16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6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</a:t>
            </a:r>
            <a:endParaRPr lang="en-US" sz="16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54302"/>
              </p:ext>
            </p:extLst>
          </p:nvPr>
        </p:nvGraphicFramePr>
        <p:xfrm>
          <a:off x="5866318" y="1885928"/>
          <a:ext cx="2314748" cy="1539484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874588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4045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LR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</a:rPr>
                        <a:t>0.965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RF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</a:rPr>
                        <a:t>0.965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66710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 in LR</a:t>
                      </a:r>
                      <a:endParaRPr lang="en-US" sz="10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0.941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045712"/>
                  </a:ext>
                </a:extLst>
              </a:tr>
              <a:tr h="206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 in RF</a:t>
                      </a:r>
                      <a:endParaRPr lang="en-US" sz="10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LR</a:t>
                      </a:r>
                      <a:endParaRPr lang="en-US" sz="10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</a:rPr>
                        <a:t>0.965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179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 RF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</a:rPr>
                        <a:t>0.965</a:t>
                      </a:r>
                      <a:endParaRPr lang="en-US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 bwMode="auto">
          <a:xfrm>
            <a:off x="0" y="0"/>
            <a:ext cx="1331640" cy="5145088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326878"/>
              </p:ext>
            </p:extLst>
          </p:nvPr>
        </p:nvGraphicFramePr>
        <p:xfrm>
          <a:off x="395536" y="1060376"/>
          <a:ext cx="3168352" cy="3277619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35802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</a:t>
                      </a:r>
                      <a:r>
                        <a:rPr lang="en-US" sz="12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815"/>
                  </a:ext>
                </a:extLst>
              </a:tr>
              <a:tr h="241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30674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3 LR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X714.55</a:t>
                      </a:r>
                      <a:r>
                        <a:rPr lang="en-US" sz="105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X711.56 (index1)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30674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3 LR in RF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X714.55, X717.54, X711.56 (index1)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0.930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66710"/>
                  </a:ext>
                </a:extLst>
              </a:tr>
              <a:tr h="306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3 RF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X702.58, X714.55, X705.57 (index2)</a:t>
                      </a:r>
                      <a:endParaRPr lang="en-US" sz="105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0.941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045712"/>
                  </a:ext>
                </a:extLst>
              </a:tr>
              <a:tr h="5574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Top 3 RF in LR</a:t>
                      </a:r>
                      <a:r>
                        <a:rPr lang="en-US" sz="105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X702.58, X714.55, X705.57 (index2)</a:t>
                      </a:r>
                      <a:endParaRPr lang="en-US" sz="105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0.965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30674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 4 in LR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X711.56, X714.55, X717.54 (index3)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0.953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5574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 4 in</a:t>
                      </a:r>
                      <a:r>
                        <a:rPr lang="en-US" sz="105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RF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X711.56, X714.55, X717.54 (index 3)</a:t>
                      </a:r>
                      <a:endParaRPr lang="en-US" sz="105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0.953</a:t>
                      </a:r>
                    </a:p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</a:tbl>
          </a:graphicData>
        </a:graphic>
      </p:graphicFrame>
      <p:sp>
        <p:nvSpPr>
          <p:cNvPr id="14" name="Right Arrow 13"/>
          <p:cNvSpPr/>
          <p:nvPr/>
        </p:nvSpPr>
        <p:spPr bwMode="auto">
          <a:xfrm>
            <a:off x="4150873" y="2626826"/>
            <a:ext cx="1296144" cy="371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31572" y="2039835"/>
            <a:ext cx="2134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Index 2’s  </a:t>
            </a:r>
            <a:r>
              <a:rPr lang="en-US" sz="1400" b="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features individually</a:t>
            </a:r>
            <a:endParaRPr lang="en-US" sz="14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Brace 2"/>
          <p:cNvSpPr/>
          <p:nvPr/>
        </p:nvSpPr>
        <p:spPr bwMode="auto">
          <a:xfrm>
            <a:off x="3691194" y="2380294"/>
            <a:ext cx="310201" cy="864096"/>
          </a:xfrm>
          <a:prstGeom prst="rightBrace">
            <a:avLst>
              <a:gd name="adj1" fmla="val 0"/>
              <a:gd name="adj2" fmla="val 50000"/>
            </a:avLst>
          </a:prstGeom>
          <a:noFill/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70939" y="3739962"/>
            <a:ext cx="14006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Intercept: 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6.03</a:t>
            </a:r>
            <a:endParaRPr lang="en-US" sz="12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Coefficients:</a:t>
            </a:r>
          </a:p>
          <a:p>
            <a:r>
              <a:rPr lang="en-US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X702.58: 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3.05</a:t>
            </a:r>
          </a:p>
          <a:p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X714.55: 6.32</a:t>
            </a:r>
          </a:p>
          <a:p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X705.57</a:t>
            </a:r>
            <a:r>
              <a:rPr lang="en-US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4.17</a:t>
            </a:r>
            <a:endParaRPr lang="en-US" sz="1200" b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47284" y="4127308"/>
                <a:ext cx="3396716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100" kern="0" dirty="0" smtClean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y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10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US" sz="1100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1100" i="0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03</m:t>
                    </m:r>
                    <m:r>
                      <m:rPr>
                        <m:nor/>
                      </m:rPr>
                      <a:rPr lang="en-US" sz="1100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1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1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𝟎𝟓</m:t>
                        </m:r>
                      </m:e>
                      <m:sub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𝟕𝟎𝟐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𝟓𝟖</m:t>
                        </m:r>
                      </m:sub>
                    </m:sSub>
                    <m:r>
                      <a:rPr lang="en-US" sz="11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1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𝟑𝟐</m:t>
                        </m:r>
                      </m:e>
                      <m:sub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𝟕𝟏𝟒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𝟓𝟓</m:t>
                        </m:r>
                      </m:sub>
                    </m:sSub>
                    <m:r>
                      <a:rPr lang="en-US" sz="11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1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𝟏𝟕</m:t>
                        </m:r>
                      </m:e>
                      <m:sub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𝟕𝟎𝟓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100" b="1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𝟓𝟕</m:t>
                        </m:r>
                      </m:sub>
                    </m:sSub>
                  </m:oMath>
                </a14:m>
                <a:endParaRPr lang="en-US" sz="1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284" y="4127308"/>
                <a:ext cx="3396716" cy="261610"/>
              </a:xfrm>
              <a:prstGeom prst="rect">
                <a:avLst/>
              </a:prstGeom>
              <a:blipFill>
                <a:blip r:embed="rId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/>
          <p:cNvSpPr/>
          <p:nvPr/>
        </p:nvSpPr>
        <p:spPr bwMode="auto">
          <a:xfrm>
            <a:off x="4962305" y="4112524"/>
            <a:ext cx="751338" cy="371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846294" y="3739962"/>
            <a:ext cx="5190202" cy="10156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95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29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223165" y="4152045"/>
            <a:ext cx="4248472" cy="864096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708, 711, 717)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912094"/>
              </p:ext>
            </p:extLst>
          </p:nvPr>
        </p:nvGraphicFramePr>
        <p:xfrm>
          <a:off x="2123728" y="1008802"/>
          <a:ext cx="2746648" cy="2848610"/>
        </p:xfrm>
        <a:graphic>
          <a:graphicData uri="http://schemas.openxmlformats.org/drawingml/2006/table">
            <a:tbl>
              <a:tblPr/>
              <a:tblGrid>
                <a:gridCol w="1312287">
                  <a:extLst>
                    <a:ext uri="{9D8B030D-6E8A-4147-A177-3AD203B41FA5}">
                      <a16:colId xmlns:a16="http://schemas.microsoft.com/office/drawing/2014/main" val="3590900807"/>
                    </a:ext>
                  </a:extLst>
                </a:gridCol>
                <a:gridCol w="1434361">
                  <a:extLst>
                    <a:ext uri="{9D8B030D-6E8A-4147-A177-3AD203B41FA5}">
                      <a16:colId xmlns:a16="http://schemas.microsoft.com/office/drawing/2014/main" val="4251978568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5602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84974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2.07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0.14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2714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1,95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13111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0.09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1341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X756.56,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69709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41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1.62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X648.95,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150167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1.27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88257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X607.46,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261038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X807.84,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1.02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13070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352814" y="118425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on </a:t>
            </a:r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06031"/>
              </p:ext>
            </p:extLst>
          </p:nvPr>
        </p:nvGraphicFramePr>
        <p:xfrm>
          <a:off x="5148064" y="1008802"/>
          <a:ext cx="3222848" cy="2865537"/>
        </p:xfrm>
        <a:graphic>
          <a:graphicData uri="http://schemas.openxmlformats.org/drawingml/2006/table">
            <a:tbl>
              <a:tblPr/>
              <a:tblGrid>
                <a:gridCol w="1716281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506567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6929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Dataset,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38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2.6467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6.4210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4.1872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0.6876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2.2730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4.2665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0.4481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1.2908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0.5545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1.1899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X648.95: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1.0915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1.0482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3.1072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X607.46: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941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0.4051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30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223165" y="4152045"/>
            <a:ext cx="4248472" cy="864096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708, 711, 717)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None/>
            </a:pPr>
            <a:endParaRPr lang="en-US" sz="140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409145"/>
              </p:ext>
            </p:extLst>
          </p:nvPr>
        </p:nvGraphicFramePr>
        <p:xfrm>
          <a:off x="2123728" y="1008802"/>
          <a:ext cx="2746648" cy="2848610"/>
        </p:xfrm>
        <a:graphic>
          <a:graphicData uri="http://schemas.openxmlformats.org/drawingml/2006/table">
            <a:tbl>
              <a:tblPr/>
              <a:tblGrid>
                <a:gridCol w="1312287">
                  <a:extLst>
                    <a:ext uri="{9D8B030D-6E8A-4147-A177-3AD203B41FA5}">
                      <a16:colId xmlns:a16="http://schemas.microsoft.com/office/drawing/2014/main" val="3590900807"/>
                    </a:ext>
                  </a:extLst>
                </a:gridCol>
                <a:gridCol w="1434361">
                  <a:extLst>
                    <a:ext uri="{9D8B030D-6E8A-4147-A177-3AD203B41FA5}">
                      <a16:colId xmlns:a16="http://schemas.microsoft.com/office/drawing/2014/main" val="4251978568"/>
                    </a:ext>
                  </a:extLst>
                </a:gridCol>
              </a:tblGrid>
              <a:tr h="2880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45602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849742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27144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X753.55,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1,95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 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13111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 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13415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X756.56, </a:t>
                      </a:r>
                      <a:r>
                        <a:rPr lang="en-US" sz="110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X539.75,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 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697090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X545.62,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 High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413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100" dirty="0" smtClean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150167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X648.95,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88257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100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261038"/>
                  </a:ext>
                </a:extLst>
              </a:tr>
              <a:tr h="2203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X807.84,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100" i="1" u="sng" dirty="0" smtClea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13070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352814" y="118425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in Formula, USE SHAP IN TRIAN </a:t>
            </a:r>
            <a:r>
              <a:rPr lang="en-US" sz="19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en-US" sz="1900" b="0" kern="0" dirty="0" smtClean="0">
              <a:solidFill>
                <a:srgbClr val="0076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814720"/>
              </p:ext>
            </p:extLst>
          </p:nvPr>
        </p:nvGraphicFramePr>
        <p:xfrm>
          <a:off x="5148064" y="1008802"/>
          <a:ext cx="3222848" cy="3117483"/>
        </p:xfrm>
        <a:graphic>
          <a:graphicData uri="http://schemas.openxmlformats.org/drawingml/2006/table">
            <a:tbl>
              <a:tblPr/>
              <a:tblGrid>
                <a:gridCol w="1716281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506567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52897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Dataset,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65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2.6467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6.55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1.3839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X753.55: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0.6876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X756.56: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0.6587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X539.75: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1.2908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X545.62: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1.1899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3.03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1.0482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X648.95: -1.03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0.38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1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X807.84: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0.5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06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31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31640" y="4107853"/>
            <a:ext cx="3456384" cy="834034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708-720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979712" y="1132384"/>
          <a:ext cx="2880320" cy="2778470"/>
        </p:xfrm>
        <a:graphic>
          <a:graphicData uri="http://schemas.openxmlformats.org/drawingml/2006/table">
            <a:tbl>
              <a:tblPr/>
              <a:tblGrid>
                <a:gridCol w="1376154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1504166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34203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I+ Michele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815"/>
                  </a:ext>
                </a:extLst>
              </a:tr>
              <a:tr h="483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1,55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51259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</a:t>
                      </a:r>
                      <a:r>
                        <a:rPr lang="en-US" sz="1000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9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981789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1.08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7596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43618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i="1" u="sng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X819.95</a:t>
                      </a:r>
                      <a:r>
                        <a:rPr lang="en-US" sz="1000" i="1" u="sng" kern="1200" dirty="0" smtClean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Low</a:t>
                      </a:r>
                      <a:r>
                        <a:rPr lang="en-US" sz="1000" i="1" u="sng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0.99</a:t>
                      </a:r>
                      <a:endParaRPr lang="en-US" sz="1100" i="1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F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12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5292080" y="941227"/>
          <a:ext cx="3133328" cy="3066732"/>
        </p:xfrm>
        <a:graphic>
          <a:graphicData uri="http://schemas.openxmlformats.org/drawingml/2006/table">
            <a:tbl>
              <a:tblPr/>
              <a:tblGrid>
                <a:gridCol w="166666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66664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616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5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6.21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4.73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3.76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4.19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1.53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3.81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-1.25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X563.24: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</a:t>
                      </a: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-1.75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X542.68: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X819.95: -0.98</a:t>
                      </a:r>
                      <a:endParaRPr lang="en-US" sz="1100" i="1" u="sng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15616" y="196280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in Formula, USE SHAP IN TRIAN PHASE</a:t>
            </a: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I+ Michele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14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32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331640" y="4107853"/>
            <a:ext cx="3456384" cy="834034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Frequent pattern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50327"/>
              </p:ext>
            </p:extLst>
          </p:nvPr>
        </p:nvGraphicFramePr>
        <p:xfrm>
          <a:off x="1979712" y="1132384"/>
          <a:ext cx="2880320" cy="2778470"/>
        </p:xfrm>
        <a:graphic>
          <a:graphicData uri="http://schemas.openxmlformats.org/drawingml/2006/table">
            <a:tbl>
              <a:tblPr/>
              <a:tblGrid>
                <a:gridCol w="1376154">
                  <a:extLst>
                    <a:ext uri="{9D8B030D-6E8A-4147-A177-3AD203B41FA5}">
                      <a16:colId xmlns:a16="http://schemas.microsoft.com/office/drawing/2014/main" val="2838137489"/>
                    </a:ext>
                  </a:extLst>
                </a:gridCol>
                <a:gridCol w="1504166">
                  <a:extLst>
                    <a:ext uri="{9D8B030D-6E8A-4147-A177-3AD203B41FA5}">
                      <a16:colId xmlns:a16="http://schemas.microsoft.com/office/drawing/2014/main" val="3643415969"/>
                    </a:ext>
                  </a:extLst>
                </a:gridCol>
              </a:tblGrid>
              <a:tr h="34203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Anna I + Anna II + Marco I+ Michele</a:t>
                      </a:r>
                      <a:r>
                        <a:rPr lang="en-US" sz="1100" b="1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Datasets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815"/>
                  </a:ext>
                </a:extLst>
              </a:tr>
              <a:tr h="4831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707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X948.10,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17172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X941.95,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3.18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51259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X945.02,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2.82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567523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X951.17,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669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2.23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2093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X938.88,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2.03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X542.68,</a:t>
                      </a:r>
                      <a:r>
                        <a:rPr lang="en-US" sz="1000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9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981789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X926.61,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1.94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X533.89,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7596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X563.24, </a:t>
                      </a:r>
                      <a:r>
                        <a:rPr lang="en-US" sz="1000" kern="1200" baseline="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Fairly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43618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i="1" u="non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</a:t>
                      </a:r>
                      <a:r>
                        <a:rPr lang="en-US" sz="1000" i="1" u="none" kern="1200" dirty="0" smtClean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i="1" u="non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1.81</a:t>
                      </a:r>
                      <a:endParaRPr lang="en-US" sz="1100" i="1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X530.96,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912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96211"/>
              </p:ext>
            </p:extLst>
          </p:nvPr>
        </p:nvGraphicFramePr>
        <p:xfrm>
          <a:off x="5292080" y="941227"/>
          <a:ext cx="3133328" cy="3066732"/>
        </p:xfrm>
        <a:graphic>
          <a:graphicData uri="http://schemas.openxmlformats.org/drawingml/2006/table">
            <a:tbl>
              <a:tblPr/>
              <a:tblGrid>
                <a:gridCol w="1666664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66664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8616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Merged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75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i="1" u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i="1" u="non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-0.94</a:t>
                      </a:r>
                      <a:endParaRPr lang="en-US" sz="1100" i="1" u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X948.10: 8.28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-2.28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X941.95: -0.06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0.81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X945.02: 2.22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-1.57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X951.17: 6.8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2.98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X723.53: 4.63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2.13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X938.88: -6.12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X542.68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-0.42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X926.61: -12.35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X533.89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5.66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X717.54: 1.45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X563.24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-12.26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105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i="1" u="non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X726.53: -4.47</a:t>
                      </a:r>
                      <a:endParaRPr lang="en-US" sz="1100" i="1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X530.96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: 6.92</a:t>
                      </a:r>
                      <a:endParaRPr lang="en-US" sz="1100" b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15616" y="196280"/>
            <a:ext cx="7776864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kern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Train Set, USE SHAP IN TRIAN PHASE</a:t>
            </a:r>
          </a:p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Anna I + Anna II + Marco I+ Michele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73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33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615054" y="988368"/>
            <a:ext cx="6659198" cy="1956098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“Original” Dataset’s ending part was trimmed such that it ends in 792. I also removed one spectrum from “Marco II” to end in 792 as well.</a:t>
            </a:r>
          </a:p>
          <a:p>
            <a:pPr algn="just">
              <a:buFont typeface="+mj-lt"/>
              <a:buAutoNum type="arabicPeriod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“Marco II” Dataset’s Beginning part was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it begins with 449.</a:t>
            </a:r>
          </a:p>
          <a:p>
            <a:pPr algn="just">
              <a:buFont typeface="+mj-lt"/>
              <a:buAutoNum type="arabicPeriod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these 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1&amp;2,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and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II are in range </a:t>
            </a:r>
            <a:r>
              <a:rPr lang="en-US" sz="1600" b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449-792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Yet, “Original” has 117 spectra while “Marco II” has 344. To address this, a matching was done to make sure “Marco II” has the exact 117 spectra as “Original” dataset. This matching was as following:</a:t>
            </a:r>
          </a:p>
          <a:p>
            <a:pPr lvl="1"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numeric part of column names that start with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in “Original” dataset. Use the existing column names from the “Marco II” dataset directly. Compare them and extract the ones that are similar</a:t>
            </a:r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646828" y="214210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20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II Dataset:</a:t>
            </a:r>
            <a:endParaRPr lang="en-US" sz="2000" kern="0" dirty="0" smtClean="0">
              <a:solidFill>
                <a:srgbClr val="FF4343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73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34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646091" y="208495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sp>
        <p:nvSpPr>
          <p:cNvPr id="14" name="Content Placeholder 4"/>
          <p:cNvSpPr>
            <a:spLocks noGrp="1"/>
          </p:cNvSpPr>
          <p:nvPr>
            <p:ph idx="1"/>
          </p:nvPr>
        </p:nvSpPr>
        <p:spPr>
          <a:xfrm>
            <a:off x="1259632" y="4046277"/>
            <a:ext cx="4968552" cy="1591196"/>
          </a:xfrm>
        </p:spPr>
        <p:txBody>
          <a:bodyPr/>
          <a:lstStyle/>
          <a:p>
            <a:pPr algn="just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dirty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705-717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65596"/>
              </p:ext>
            </p:extLst>
          </p:nvPr>
        </p:nvGraphicFramePr>
        <p:xfrm>
          <a:off x="1907704" y="1021276"/>
          <a:ext cx="2715059" cy="2788716"/>
        </p:xfrm>
        <a:graphic>
          <a:graphicData uri="http://schemas.openxmlformats.org/drawingml/2006/table">
            <a:tbl>
              <a:tblPr/>
              <a:tblGrid>
                <a:gridCol w="1296736">
                  <a:extLst>
                    <a:ext uri="{9D8B030D-6E8A-4147-A177-3AD203B41FA5}">
                      <a16:colId xmlns:a16="http://schemas.microsoft.com/office/drawing/2014/main" val="766596312"/>
                    </a:ext>
                  </a:extLst>
                </a:gridCol>
                <a:gridCol w="1418323">
                  <a:extLst>
                    <a:ext uri="{9D8B030D-6E8A-4147-A177-3AD203B41FA5}">
                      <a16:colId xmlns:a16="http://schemas.microsoft.com/office/drawing/2014/main" val="1840371126"/>
                    </a:ext>
                  </a:extLst>
                </a:gridCol>
              </a:tblGrid>
              <a:tr h="406947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 II 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28696"/>
                  </a:ext>
                </a:extLst>
              </a:tr>
              <a:tr h="47747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Logistic Regression Values</a:t>
                      </a:r>
                      <a:endParaRPr lang="en-US" sz="1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489687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1.85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0.05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571651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1.84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308156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X720.54,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23673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1.65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63607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1.53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X548.55,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97334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1.44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713534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1.25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X699.60,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619601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1.18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456965"/>
                  </a:ext>
                </a:extLst>
              </a:tr>
              <a:tr h="21158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X729.53,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X533.89,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03119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24236"/>
              </p:ext>
            </p:extLst>
          </p:nvPr>
        </p:nvGraphicFramePr>
        <p:xfrm>
          <a:off x="5026435" y="1021276"/>
          <a:ext cx="3062786" cy="2790097"/>
        </p:xfrm>
        <a:graphic>
          <a:graphicData uri="http://schemas.openxmlformats.org/drawingml/2006/table">
            <a:tbl>
              <a:tblPr/>
              <a:tblGrid>
                <a:gridCol w="1675893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386893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3458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Dataset,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All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4147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4.9573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7.8021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3.1110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3.0763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2.7198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2.6667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X720.54: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1.4670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2.9084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2.6322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1.6487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0.5946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X548.55: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0.1718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2.1516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2.0821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0.6833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X699.60: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1.2903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1.3812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3.0634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183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X729.53: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1.7990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X533.89: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0.1354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68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EAC7-9E16-4F91-92F5-B839A0595459}" type="slidenum">
              <a:rPr lang="ru-RU" altLang="ru-RU"/>
              <a:pPr/>
              <a:t>35</a:t>
            </a:fld>
            <a:endParaRPr lang="ru-RU" alt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B90883D-7294-44FE-8D53-1B4A60CC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4242-09F2-4215-95F4-57D2639D179D}" type="datetime1">
              <a:rPr lang="en-US" altLang="ru-RU" smtClean="0">
                <a:solidFill>
                  <a:schemeClr val="tx1"/>
                </a:solidFill>
              </a:rPr>
              <a:t>4/26/2025</a:t>
            </a:fld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49660" y="94399"/>
            <a:ext cx="6708775" cy="5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ctr"/>
            <a:r>
              <a:rPr lang="en-US" sz="1900" b="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Summarized information of SHAP, </a:t>
            </a:r>
            <a:r>
              <a:rPr lang="en-US" sz="1900" kern="0" dirty="0" smtClean="0">
                <a:solidFill>
                  <a:srgbClr val="0076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 II</a:t>
            </a:r>
            <a:endParaRPr lang="en-US" sz="1900" kern="0" dirty="0" smtClean="0">
              <a:solidFill>
                <a:srgbClr val="FF4343"/>
              </a:solidFill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588634"/>
              </p:ext>
            </p:extLst>
          </p:nvPr>
        </p:nvGraphicFramePr>
        <p:xfrm>
          <a:off x="2051720" y="1118461"/>
          <a:ext cx="2673442" cy="2712577"/>
        </p:xfrm>
        <a:graphic>
          <a:graphicData uri="http://schemas.openxmlformats.org/drawingml/2006/table">
            <a:tbl>
              <a:tblPr/>
              <a:tblGrid>
                <a:gridCol w="1276859">
                  <a:extLst>
                    <a:ext uri="{9D8B030D-6E8A-4147-A177-3AD203B41FA5}">
                      <a16:colId xmlns:a16="http://schemas.microsoft.com/office/drawing/2014/main" val="3676112546"/>
                    </a:ext>
                  </a:extLst>
                </a:gridCol>
                <a:gridCol w="1396583">
                  <a:extLst>
                    <a:ext uri="{9D8B030D-6E8A-4147-A177-3AD203B41FA5}">
                      <a16:colId xmlns:a16="http://schemas.microsoft.com/office/drawing/2014/main" val="662858187"/>
                    </a:ext>
                  </a:extLst>
                </a:gridCol>
              </a:tblGrid>
              <a:tr h="395837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Marco II Dataset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10512"/>
                  </a:ext>
                </a:extLst>
              </a:tr>
              <a:tr h="4644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Linear Logistic Regression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47041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15154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X714.55,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08323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X723.53,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X560.30,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365160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X711.56,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X536.82,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386722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X708.57,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X717.54,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72136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X726.53,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047729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X705.57,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X554.43,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070204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X702.58,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X533.89,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01938"/>
                  </a:ext>
                </a:extLst>
              </a:tr>
              <a:tr h="205811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X747.54,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X513.40, </a:t>
                      </a:r>
                      <a:r>
                        <a:rPr lang="en-US" sz="1000" kern="1200" dirty="0" smtClea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791810"/>
                  </a:ext>
                </a:extLst>
              </a:tr>
            </a:tbl>
          </a:graphicData>
        </a:graphic>
      </p:graphicFrame>
      <p:sp>
        <p:nvSpPr>
          <p:cNvPr id="12" name="Content Placeholder 4"/>
          <p:cNvSpPr txBox="1">
            <a:spLocks/>
          </p:cNvSpPr>
          <p:nvPr/>
        </p:nvSpPr>
        <p:spPr bwMode="auto">
          <a:xfrm>
            <a:off x="1187624" y="4129262"/>
            <a:ext cx="4610664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1C1C1C"/>
                </a:solidFill>
                <a:latin typeface="+mn-lt"/>
              </a:defRPr>
            </a:lvl9pPr>
          </a:lstStyle>
          <a:p>
            <a:pPr algn="just"/>
            <a:r>
              <a:rPr lang="en-US" sz="1200" b="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&amp; Frequency</a:t>
            </a:r>
          </a:p>
          <a:p>
            <a:pPr marL="0" indent="0" algn="just">
              <a:buFontTx/>
              <a:buNone/>
            </a:pPr>
            <a:r>
              <a:rPr lang="en-US" sz="1200" b="0" kern="0" dirty="0" smtClean="0">
                <a:solidFill>
                  <a:srgbClr val="606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b="0" kern="0" dirty="0" smtClean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= 2</a:t>
            </a:r>
            <a:endParaRPr lang="en-US" sz="1200" b="1" kern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200" b="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(702, 705, 711, 717)</a:t>
            </a:r>
            <a:r>
              <a:rPr lang="en-US" sz="1200" b="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</a:t>
            </a:r>
          </a:p>
          <a:p>
            <a:pPr marL="0" indent="0" algn="just">
              <a:buFontTx/>
              <a:buNone/>
            </a:pPr>
            <a:endParaRPr lang="en-US" sz="1200" b="0" kern="0" dirty="0" smtClean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68784"/>
              </p:ext>
            </p:extLst>
          </p:nvPr>
        </p:nvGraphicFramePr>
        <p:xfrm>
          <a:off x="5220072" y="988368"/>
          <a:ext cx="2952326" cy="3265368"/>
        </p:xfrm>
        <a:graphic>
          <a:graphicData uri="http://schemas.openxmlformats.org/drawingml/2006/table">
            <a:tbl>
              <a:tblPr/>
              <a:tblGrid>
                <a:gridCol w="1503411">
                  <a:extLst>
                    <a:ext uri="{9D8B030D-6E8A-4147-A177-3AD203B41FA5}">
                      <a16:colId xmlns:a16="http://schemas.microsoft.com/office/drawing/2014/main" val="3921601878"/>
                    </a:ext>
                  </a:extLst>
                </a:gridCol>
                <a:gridCol w="1448915">
                  <a:extLst>
                    <a:ext uri="{9D8B030D-6E8A-4147-A177-3AD203B41FA5}">
                      <a16:colId xmlns:a16="http://schemas.microsoft.com/office/drawing/2014/main" val="216128679"/>
                    </a:ext>
                  </a:extLst>
                </a:gridCol>
              </a:tblGrid>
              <a:tr h="47198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Coefficients and Intercept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Marco</a:t>
                      </a:r>
                      <a:r>
                        <a:rPr lang="en-US" sz="11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II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Dataset, Some 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36933"/>
                  </a:ext>
                </a:extLst>
              </a:tr>
              <a:tr h="3575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Linear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1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Values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65146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2.8670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Intercept: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6.6258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95259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1.2041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3.9161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22803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X714.55: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1.2667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4.4758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116328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X723.53: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0.8853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X560.30: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0.2943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105780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X711.56: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1.2063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X536.82: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0.4045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73219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X708.57: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1.1338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X717.54: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2.6737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73567"/>
                  </a:ext>
                </a:extLst>
              </a:tr>
              <a:tr h="221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X726.53: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0.6495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3.0874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13619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X705.57: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1.0130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X554.43: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0.2892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42133"/>
                  </a:ext>
                </a:extLst>
              </a:tr>
              <a:tr h="221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X702.58: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0.8697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X533.89: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0.4506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49350"/>
                  </a:ext>
                </a:extLst>
              </a:tr>
              <a:tr h="245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X747.54: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1.2388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X513.40: -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0.9377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1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59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often do green-highlighted features appear in </a:t>
            </a:r>
            <a:r>
              <a:rPr lang="en-US" sz="2200" dirty="0">
                <a:solidFill>
                  <a:srgbClr val="1B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'All'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versus </a:t>
            </a:r>
            <a:r>
              <a:rPr lang="en-US" sz="2200" dirty="0">
                <a:solidFill>
                  <a:srgbClr val="1B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'Some'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across </a:t>
            </a:r>
            <a:r>
              <a:rPr lang="en-US" sz="2200" dirty="0" smtClean="0">
                <a:solidFill>
                  <a:srgbClr val="1B00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Tables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9D80-F4CF-4580-BF5C-3DB5B3AFC968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36</a:t>
            </a:fld>
            <a:endParaRPr lang="ru-RU" altLang="ru-R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86" y="1265568"/>
            <a:ext cx="3578820" cy="28261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514" y="1201570"/>
            <a:ext cx="3576811" cy="295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6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712" y="1852464"/>
            <a:ext cx="6192688" cy="1367631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29D80-F4CF-4580-BF5C-3DB5B3AFC968}" type="datetime1">
              <a:rPr lang="en-US" altLang="ru-RU" smtClean="0"/>
              <a:t>4/26/2025</a:t>
            </a:fld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16E2-EEEA-4C65-930C-B260DDA053E7}" type="slidenum">
              <a:rPr lang="ru-RU" altLang="ru-RU" smtClean="0"/>
              <a:pPr/>
              <a:t>37</a:t>
            </a:fld>
            <a:endParaRPr lang="ru-RU" altLang="ru-RU"/>
          </a:p>
        </p:txBody>
      </p:sp>
      <p:pic>
        <p:nvPicPr>
          <p:cNvPr id="1026" name="Picture 2" descr="Flower 花 Sticker by emilietunc - Find &amp; Share on GIPHY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2542977"/>
            <a:ext cx="1874986" cy="262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9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Green-Sprout">
      <a:dk1>
        <a:srgbClr val="FFFFFF"/>
      </a:dk1>
      <a:lt1>
        <a:srgbClr val="319336"/>
      </a:lt1>
      <a:dk2>
        <a:srgbClr val="FFFFFF"/>
      </a:dk2>
      <a:lt2>
        <a:srgbClr val="C7856B"/>
      </a:lt2>
      <a:accent1>
        <a:srgbClr val="7C5E40"/>
      </a:accent1>
      <a:accent2>
        <a:srgbClr val="B97B3D"/>
      </a:accent2>
      <a:accent3>
        <a:srgbClr val="4C893B"/>
      </a:accent3>
      <a:accent4>
        <a:srgbClr val="B09360"/>
      </a:accent4>
      <a:accent5>
        <a:srgbClr val="799E48"/>
      </a:accent5>
      <a:accent6>
        <a:srgbClr val="AE6A40"/>
      </a:accent6>
      <a:hlink>
        <a:srgbClr val="B6A299"/>
      </a:hlink>
      <a:folHlink>
        <a:srgbClr val="746155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Green-Sprout">
      <a:dk1>
        <a:srgbClr val="FFFFFF"/>
      </a:dk1>
      <a:lt1>
        <a:srgbClr val="319336"/>
      </a:lt1>
      <a:dk2>
        <a:srgbClr val="FFFFFF"/>
      </a:dk2>
      <a:lt2>
        <a:srgbClr val="C7856B"/>
      </a:lt2>
      <a:accent1>
        <a:srgbClr val="7C5E40"/>
      </a:accent1>
      <a:accent2>
        <a:srgbClr val="B97B3D"/>
      </a:accent2>
      <a:accent3>
        <a:srgbClr val="4C893B"/>
      </a:accent3>
      <a:accent4>
        <a:srgbClr val="B09360"/>
      </a:accent4>
      <a:accent5>
        <a:srgbClr val="799E48"/>
      </a:accent5>
      <a:accent6>
        <a:srgbClr val="AE6A40"/>
      </a:accent6>
      <a:hlink>
        <a:srgbClr val="B6A299"/>
      </a:hlink>
      <a:folHlink>
        <a:srgbClr val="746155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8693</TotalTime>
  <Words>6166</Words>
  <Application>Microsoft Office PowerPoint</Application>
  <PresentationFormat>Custom</PresentationFormat>
  <Paragraphs>1559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Georgia</vt:lpstr>
      <vt:lpstr>Roboto</vt:lpstr>
      <vt:lpstr>Times New Roman</vt:lpstr>
      <vt:lpstr>Wingdings</vt:lpstr>
      <vt:lpstr>template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often do green-highlighted features appear in 'All' versus 'Some' states across all Tables?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Fa Hass</cp:lastModifiedBy>
  <cp:revision>963</cp:revision>
  <dcterms:created xsi:type="dcterms:W3CDTF">2006-06-29T12:15:01Z</dcterms:created>
  <dcterms:modified xsi:type="dcterms:W3CDTF">2025-04-26T09:54:57Z</dcterms:modified>
</cp:coreProperties>
</file>