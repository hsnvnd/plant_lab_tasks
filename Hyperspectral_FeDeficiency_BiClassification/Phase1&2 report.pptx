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13"/>
  </p:notesMasterIdLst>
  <p:handoutMasterIdLst>
    <p:handoutMasterId r:id="rId14"/>
  </p:handoutMasterIdLst>
  <p:sldIdLst>
    <p:sldId id="256" r:id="rId3"/>
    <p:sldId id="279" r:id="rId4"/>
    <p:sldId id="296" r:id="rId5"/>
    <p:sldId id="287" r:id="rId6"/>
    <p:sldId id="284" r:id="rId7"/>
    <p:sldId id="292" r:id="rId8"/>
    <p:sldId id="289" r:id="rId9"/>
    <p:sldId id="291" r:id="rId10"/>
    <p:sldId id="293" r:id="rId11"/>
    <p:sldId id="294" r:id="rId12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5pPr>
    <a:lvl6pPr marL="2286000" algn="l" defTabSz="914400" rtl="0" eaLnBrk="1" latinLnBrk="0" hangingPunct="1"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6pPr>
    <a:lvl7pPr marL="2743200" algn="l" defTabSz="914400" rtl="0" eaLnBrk="1" latinLnBrk="0" hangingPunct="1"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7pPr>
    <a:lvl8pPr marL="3200400" algn="l" defTabSz="914400" rtl="0" eaLnBrk="1" latinLnBrk="0" hangingPunct="1"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8pPr>
    <a:lvl9pPr marL="3657600" algn="l" defTabSz="914400" rtl="0" eaLnBrk="1" latinLnBrk="0" hangingPunct="1">
      <a:defRPr sz="3600" b="1" kern="1200">
        <a:solidFill>
          <a:schemeClr val="tx2"/>
        </a:solidFill>
        <a:latin typeface="Futura LT Book" pitchFamily="2" charset="0"/>
        <a:ea typeface="굴림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8223"/>
    <a:srgbClr val="990D16"/>
    <a:srgbClr val="397B0D"/>
    <a:srgbClr val="FFFF71"/>
    <a:srgbClr val="FACAD2"/>
    <a:srgbClr val="D1B3E7"/>
    <a:srgbClr val="DAC2EC"/>
    <a:srgbClr val="F6A8B5"/>
    <a:srgbClr val="ABFFD5"/>
    <a:srgbClr val="75F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09" autoAdjust="0"/>
    <p:restoredTop sz="94343" autoAdjust="0"/>
  </p:normalViewPr>
  <p:slideViewPr>
    <p:cSldViewPr>
      <p:cViewPr>
        <p:scale>
          <a:sx n="66" d="100"/>
          <a:sy n="66" d="100"/>
        </p:scale>
        <p:origin x="1698" y="42"/>
      </p:cViewPr>
      <p:guideLst>
        <p:guide orient="horz" pos="2160"/>
        <p:guide pos="2880"/>
      </p:guideLst>
    </p:cSldViewPr>
  </p:slideViewPr>
  <p:notesTextViewPr>
    <p:cViewPr>
      <p:scale>
        <a:sx n="50" d="100"/>
        <a:sy n="5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171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138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ru-RU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fld id="{934E5B20-0DF6-45DE-8D68-529744E10A61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8637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36883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64389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74812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45781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45646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26075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68817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56E47-2E6A-4370-BFD2-60CC4C37914A}" type="slidenum">
              <a:rPr lang="ru-RU" altLang="ru-RU" smtClean="0"/>
              <a:pPr/>
              <a:t>10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60379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113" y="5229225"/>
            <a:ext cx="7343775" cy="936625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noProof="0" smtClean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00113" y="1196975"/>
            <a:ext cx="3959225" cy="576263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buFontTx/>
              <a:buNone/>
              <a:defRPr>
                <a:solidFill>
                  <a:srgbClr val="86BF06"/>
                </a:solidFill>
                <a:latin typeface="Futura LT Book" pitchFamily="2" charset="0"/>
              </a:defRPr>
            </a:lvl1pPr>
          </a:lstStyle>
          <a:p>
            <a:pPr lvl="0"/>
            <a:r>
              <a:rPr lang="ru-RU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5F9D7-C229-410F-8367-2548BCE87028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449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C5D6E-72DE-41B0-92F9-8D4198D816F1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787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700213"/>
            <a:ext cx="4027487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00213"/>
            <a:ext cx="4027488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095625-21CC-4170-9596-B152E693AD41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983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03A2AA-BF6B-40D1-9F61-1B0E7ACF73E7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63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16386E-96C5-4FC2-80E5-4D0FDDE0874D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008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87B57E-2949-441C-A1CE-1DDE5E496D22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45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00A1E-3B13-4EBC-BD68-E86E9DEB7F4D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0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21D23-CCB7-4715-BF5A-E7E71B366D8D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489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1C67D3-6A5B-4A3F-BB91-4B966C54B5B6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4873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4638" y="260350"/>
            <a:ext cx="2051050" cy="6048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3" y="260350"/>
            <a:ext cx="6003925" cy="6048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3A116F-7917-423B-A109-25C191BF8749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990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2E9100-F421-47BF-8F7C-5BE3FC36189D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343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B8F9E8-069D-482A-99F8-983C1284A706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93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59FD14-506C-4DEB-BE7C-55BBE343BDC5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391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8175" y="1628775"/>
            <a:ext cx="331311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3688" y="1628775"/>
            <a:ext cx="331311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CB32CC-FA3D-4C45-B252-8688A9EA43DE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635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F25B53-11BB-4683-8B94-D214EBD7C8E3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419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D810B0-1F38-4810-922B-799F3D05D8DE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119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5942A9-019B-48E4-A5A6-CA57BA3B2D30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7281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C5819-F7CE-4516-81F4-B0B390D85953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9421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082CBA-BB10-4636-BF66-6257B3516F2D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1760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49994C-A001-4066-894D-20DC7FB7D343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5615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2938" y="274638"/>
            <a:ext cx="1693862" cy="58801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8175" y="274638"/>
            <a:ext cx="4932363" cy="58801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4EACB5-E598-40F1-AA57-766668E9E964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61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4535487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700213"/>
            <a:ext cx="8207375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81750"/>
            <a:ext cx="2133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bg1"/>
                </a:solidFill>
                <a:latin typeface="Futura LT" pitchFamily="2" charset="0"/>
              </a:defRPr>
            </a:lvl1pPr>
          </a:lstStyle>
          <a:p>
            <a:endParaRPr lang="ru-RU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bg1"/>
                </a:solidFill>
                <a:latin typeface="Futura LT" pitchFamily="2" charset="0"/>
              </a:defRPr>
            </a:lvl1pPr>
          </a:lstStyle>
          <a:p>
            <a:endParaRPr lang="ru-RU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750"/>
            <a:ext cx="2133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bg1"/>
                </a:solidFill>
                <a:latin typeface="Futura LT" pitchFamily="2" charset="0"/>
              </a:defRPr>
            </a:lvl1pPr>
          </a:lstStyle>
          <a:p>
            <a:fld id="{D75DD382-631D-4E9B-8207-E2054F509E8B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86BF06"/>
          </a:solidFill>
          <a:latin typeface="Futura LT Book" pitchFamily="2" charset="0"/>
          <a:ea typeface="굴림" pitchFamily="34" charset="-127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08175" y="274638"/>
            <a:ext cx="676751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Click to edit Master title style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8175" y="1628775"/>
            <a:ext cx="677862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2133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  <a:latin typeface="Futura LT" pitchFamily="2" charset="0"/>
              </a:defRPr>
            </a:lvl1pPr>
          </a:lstStyle>
          <a:p>
            <a:endParaRPr lang="ru-RU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53188"/>
            <a:ext cx="2895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  <a:latin typeface="Futura LT" pitchFamily="2" charset="0"/>
              </a:defRPr>
            </a:lvl1pPr>
          </a:lstStyle>
          <a:p>
            <a:endParaRPr lang="ru-RU"/>
          </a:p>
        </p:txBody>
      </p:sp>
      <p:sp>
        <p:nvSpPr>
          <p:cNvPr id="1904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3188"/>
            <a:ext cx="2133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latin typeface="Futura LT" pitchFamily="2" charset="0"/>
              </a:defRPr>
            </a:lvl1pPr>
          </a:lstStyle>
          <a:p>
            <a:fld id="{EF1CDDE1-01BB-4045-B84C-1A0D2E877B23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666666"/>
          </a:solidFill>
          <a:latin typeface="Futura LT Book" pitchFamily="2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666666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666666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666666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666666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66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1520" y="5085184"/>
            <a:ext cx="8784976" cy="1585019"/>
          </a:xfrm>
        </p:spPr>
        <p:txBody>
          <a:bodyPr/>
          <a:lstStyle/>
          <a:p>
            <a:r>
              <a:rPr lang="en-US" b="1" dirty="0" smtClean="0"/>
              <a:t>-Fe Indexes, Only Young Leaves</a:t>
            </a:r>
            <a:br>
              <a:rPr lang="en-US" b="1" dirty="0" smtClean="0"/>
            </a:br>
            <a:r>
              <a:rPr lang="en-US" sz="2000" dirty="0" smtClean="0"/>
              <a:t>(</a:t>
            </a:r>
            <a:r>
              <a:rPr lang="en-US" sz="1800" dirty="0"/>
              <a:t>A</a:t>
            </a:r>
            <a:r>
              <a:rPr lang="en-US" sz="1800" dirty="0" smtClean="0"/>
              <a:t>ll </a:t>
            </a:r>
            <a:r>
              <a:rPr lang="en-US" sz="1800" dirty="0"/>
              <a:t>trimmed wavelengths are considered, and SHAP is applied </a:t>
            </a:r>
            <a:r>
              <a:rPr lang="en-US" sz="1800" dirty="0" smtClean="0"/>
              <a:t>on </a:t>
            </a:r>
            <a:r>
              <a:rPr lang="en-US" sz="1800" dirty="0"/>
              <a:t>the </a:t>
            </a:r>
            <a:r>
              <a:rPr lang="en-US" sz="1800" dirty="0" smtClean="0"/>
              <a:t>Train set</a:t>
            </a:r>
            <a:r>
              <a:rPr lang="en-US" sz="2000" dirty="0" smtClean="0"/>
              <a:t>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2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688209" y="27384"/>
            <a:ext cx="1363511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54848" y="1124744"/>
            <a:ext cx="7822784" cy="769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“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Dataset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refers </a:t>
            </a:r>
            <a:r>
              <a:rPr lang="en-US" sz="1900" b="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“Dati_HIS_Serra_Cs_Hv_Sl_Zm_no_Fe.txt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Anna1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refers to 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“Exp_I_Anna_Fe_Tomato.txt.txt”</a:t>
            </a: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Anna2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refers to “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Exp_II_Anna_Fe_Tomato.txt”</a:t>
            </a: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Marco1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refers to “Exp_Marco_tesista_Fe_Lupino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.txt”</a:t>
            </a: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Marco2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refers 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“Marco_lupin_Polypen_last_day_24_0_2025.txt</a:t>
            </a:r>
            <a:r>
              <a:rPr lang="en-US" sz="1900" b="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en-US" sz="1900" b="0" kern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</a:t>
            </a:r>
            <a:r>
              <a:rPr lang="en-US" sz="1900" b="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900" b="0" kern="0" dirty="0" smtClean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Anna3_Barley_Polypen_16May 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(ROSA NEW</a:t>
            </a:r>
            <a:r>
              <a:rPr lang="en-US" sz="1900" b="0" kern="0" dirty="0" smtClean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900" b="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refers to sheet “</a:t>
            </a:r>
            <a:r>
              <a:rPr lang="en-US" sz="1900" b="0" kern="0" dirty="0" err="1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Polypen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 MAY new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of the file “reflectance data (ROSA) new.xlsx</a:t>
            </a:r>
            <a:r>
              <a:rPr lang="en-US" sz="1900" b="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buFont typeface="+mj-lt"/>
              <a:buAutoNum type="arabicPeriod"/>
            </a:pPr>
            <a:endParaRPr lang="en-US" sz="1900" b="0" kern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name “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Anna3_specim_16_May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refers to sheet “</a:t>
            </a:r>
            <a:r>
              <a:rPr lang="en-US" sz="1900" b="0" kern="0" dirty="0" err="1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specim</a:t>
            </a:r>
            <a:r>
              <a:rPr lang="en-US" sz="1900" b="0" kern="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 May</a:t>
            </a:r>
            <a:r>
              <a:rPr lang="en-US" sz="1900" b="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of the file “reflectance data (ROSA) new.xlsx”</a:t>
            </a:r>
          </a:p>
          <a:p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9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1619672" y="404469"/>
            <a:ext cx="6354706" cy="571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3" tIns="45722" rIns="91443" bIns="45722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en-US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sz="2800" dirty="0">
                <a:solidFill>
                  <a:srgbClr val="5D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Nicknames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Real Names</a:t>
            </a:r>
            <a:endParaRPr lang="en-US" sz="2800" kern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26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3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688209" y="27384"/>
            <a:ext cx="1363511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61447" y="424586"/>
            <a:ext cx="84825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B Zar" panose="00000400000000000000" pitchFamily="2" charset="-78"/>
              </a:rPr>
              <a:t>The purpose is to observe 1) accuracy 2) important wavelengths by experimenting All Trimmed wavelengths in 2 Phases (next 2 slides)</a:t>
            </a:r>
            <a:endParaRPr lang="en-US" sz="1800" kern="0" dirty="0">
              <a:solidFill>
                <a:srgbClr val="FF0000"/>
              </a:solidFill>
              <a:latin typeface="Times New Roman" panose="02020603050405020304" pitchFamily="18" charset="0"/>
              <a:cs typeface="B Zar" panose="00000400000000000000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13983" y="1772816"/>
            <a:ext cx="8230017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Dataset (</a:t>
            </a:r>
            <a:r>
              <a:rPr lang="en-US" sz="16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144 samples, 72 +</a:t>
            </a:r>
            <a:r>
              <a:rPr lang="en-US" sz="1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Fe, 72 </a:t>
            </a:r>
            <a:r>
              <a:rPr lang="en-US" sz="16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-Fe</a:t>
            </a:r>
            <a:r>
              <a:rPr lang="en-US" sz="1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AutoNum type="alphaLcParenBoth"/>
            </a:pPr>
            <a:r>
              <a:rPr lang="en-US" sz="1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Anna1+Anna2+Marco1 </a:t>
            </a:r>
            <a:r>
              <a:rPr lang="en-US" sz="18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86 samples, 56 –Fe and 30 +Fe</a:t>
            </a:r>
            <a:endParaRPr lang="en-US" sz="1800" b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AutoNum type="alphaLcParenBoth"/>
            </a:pPr>
            <a:r>
              <a:rPr lang="en-US" sz="1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Anna1+Anna2+Marco1+Michele (</a:t>
            </a:r>
            <a:r>
              <a:rPr lang="en-US" sz="1800" b="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71 </a:t>
            </a:r>
            <a:r>
              <a:rPr lang="en-US" sz="18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b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N+Fe</a:t>
            </a:r>
            <a:r>
              <a:rPr lang="en-US" sz="1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young leaves) </a:t>
            </a:r>
            <a:r>
              <a:rPr lang="en-US" sz="18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6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157</a:t>
            </a:r>
            <a:r>
              <a:rPr lang="en-US" sz="1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samples, 56 –Fe and </a:t>
            </a:r>
            <a:r>
              <a:rPr lang="en-US" sz="16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r>
              <a:rPr lang="en-US" sz="1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+Fe</a:t>
            </a:r>
          </a:p>
          <a:p>
            <a:pPr marL="457200" indent="-457200">
              <a:buAutoNum type="alphaLcParenBoth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2195737" y="3501006"/>
          <a:ext cx="5958540" cy="1416322"/>
        </p:xfrm>
        <a:graphic>
          <a:graphicData uri="http://schemas.openxmlformats.org/drawingml/2006/table">
            <a:tbl>
              <a:tblPr firstRow="1" firstCol="1" bandRow="1"/>
              <a:tblGrid>
                <a:gridCol w="792087">
                  <a:extLst>
                    <a:ext uri="{9D8B030D-6E8A-4147-A177-3AD203B41FA5}">
                      <a16:colId xmlns:a16="http://schemas.microsoft.com/office/drawing/2014/main" val="2919749287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9945778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1631797753"/>
                    </a:ext>
                  </a:extLst>
                </a:gridCol>
                <a:gridCol w="1854085">
                  <a:extLst>
                    <a:ext uri="{9D8B030D-6E8A-4147-A177-3AD203B41FA5}">
                      <a16:colId xmlns:a16="http://schemas.microsoft.com/office/drawing/2014/main" val="1152122913"/>
                    </a:ext>
                  </a:extLst>
                </a:gridCol>
              </a:tblGrid>
              <a:tr h="5031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 (All</a:t>
                      </a:r>
                      <a:r>
                        <a:rPr lang="en-US" sz="12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features)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2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(SHAP features)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8595"/>
                  </a:ext>
                </a:extLst>
              </a:tr>
              <a:tr h="21399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1</a:t>
                      </a:r>
                      <a:r>
                        <a:rPr lang="en-US" sz="1200" b="1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- a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Logistic</a:t>
                      </a:r>
                      <a:r>
                        <a:rPr lang="en-US" sz="14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Regression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0.89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 smtClean="0"/>
                        <a:t>0.96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70941"/>
                  </a:ext>
                </a:extLst>
              </a:tr>
              <a:tr h="2139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Random Forest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0.96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0.95, (RF in LR: 0.96)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829904"/>
                  </a:ext>
                </a:extLst>
              </a:tr>
              <a:tr h="21399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1 - b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Logistic</a:t>
                      </a:r>
                      <a:r>
                        <a:rPr lang="en-US" sz="14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Regression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0" i="0" dirty="0" smtClean="0">
                          <a:solidFill>
                            <a:schemeClr val="tx2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0.57</a:t>
                      </a:r>
                      <a:endParaRPr lang="en-US" sz="1200" b="0" i="0" dirty="0">
                        <a:solidFill>
                          <a:schemeClr val="tx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i="1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0.82</a:t>
                      </a:r>
                      <a:endParaRPr lang="en-US" sz="1200" b="1" i="1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548841"/>
                  </a:ext>
                </a:extLst>
              </a:tr>
              <a:tr h="2139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Random Forest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i="1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0.73</a:t>
                      </a:r>
                      <a:endParaRPr lang="en-US" sz="1200" b="1" i="1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i="1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0.79, (RF in LR: 0.78)</a:t>
                      </a:r>
                      <a:endParaRPr lang="en-US" sz="1200" b="1" i="1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50542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9782" y="5045114"/>
            <a:ext cx="18682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SHAP Features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849782" y="5376118"/>
            <a:ext cx="84170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['X714.55', 'X717.54', 'X711.56', 'X720.54', 'X708.57', 'X723.53', 'X726.53', 'X729.53', 'X819.95']</a:t>
            </a:r>
          </a:p>
          <a:p>
            <a:r>
              <a:rPr lang="en-US" sz="160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['X702.58', 'X714.55', 'X705.57', 'X708.57', 'X711.56', 'X717.54', 'X563.24', 'X542.68', 'X720.54']</a:t>
            </a:r>
          </a:p>
        </p:txBody>
      </p:sp>
      <p:sp>
        <p:nvSpPr>
          <p:cNvPr id="10" name="Smiley Face 9"/>
          <p:cNvSpPr/>
          <p:nvPr/>
        </p:nvSpPr>
        <p:spPr bwMode="auto">
          <a:xfrm>
            <a:off x="7164288" y="3068960"/>
            <a:ext cx="360040" cy="360040"/>
          </a:xfrm>
          <a:prstGeom prst="smileyFac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1" i="0" u="none" strike="noStrike" cap="none" normalizeH="0" baseline="0" smtClean="0">
              <a:ln>
                <a:noFill/>
              </a:ln>
              <a:solidFill>
                <a:schemeClr val="tx2"/>
              </a:solidFill>
              <a:effectLst/>
              <a:latin typeface="Futura LT Book" pitchFamily="2" charset="0"/>
              <a:ea typeface="굴림" pitchFamily="34" charset="-127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3983" y="1379307"/>
            <a:ext cx="34403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(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experiment)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10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4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0" y="0"/>
            <a:ext cx="1835697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03318" y="392131"/>
            <a:ext cx="7182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(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andomly-chosen samples)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5536" y="1016568"/>
            <a:ext cx="8580107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</a:t>
            </a:r>
            <a:r>
              <a:rPr lang="en-US" sz="1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Dataset+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36 randomly-added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samples from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Michele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</a:t>
            </a:r>
            <a:r>
              <a:rPr lang="en-US" sz="1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180 </a:t>
            </a:r>
            <a:r>
              <a:rPr lang="en-US" sz="16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samples, 72 +</a:t>
            </a:r>
            <a:r>
              <a:rPr lang="en-US" sz="1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Fe, 108 </a:t>
            </a:r>
            <a:r>
              <a:rPr lang="en-US" sz="16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</a:t>
            </a:r>
            <a:endParaRPr lang="en-US" sz="1800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Anna1+Anna2+Marco1+(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Michele-36 samples chosen in “Train set”</a:t>
            </a:r>
            <a:r>
              <a:rPr lang="en-US" sz="18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6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121</a:t>
            </a:r>
            <a:r>
              <a:rPr lang="en-US" sz="16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r>
              <a:rPr lang="en-US" sz="16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56 –Fe and </a:t>
            </a:r>
            <a:r>
              <a:rPr lang="en-US" sz="16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</a:t>
            </a:r>
            <a:r>
              <a:rPr lang="en-US" sz="1600" b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+Fe</a:t>
            </a:r>
          </a:p>
          <a:p>
            <a:pPr marL="457200" indent="-457200">
              <a:buAutoNum type="alphaLcParenBoth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203088"/>
              </p:ext>
            </p:extLst>
          </p:nvPr>
        </p:nvGraphicFramePr>
        <p:xfrm>
          <a:off x="611561" y="3356992"/>
          <a:ext cx="7632847" cy="1242225"/>
        </p:xfrm>
        <a:graphic>
          <a:graphicData uri="http://schemas.openxmlformats.org/drawingml/2006/table">
            <a:tbl>
              <a:tblPr firstRow="1" firstCol="1" bandRow="1"/>
              <a:tblGrid>
                <a:gridCol w="518737">
                  <a:extLst>
                    <a:ext uri="{9D8B030D-6E8A-4147-A177-3AD203B41FA5}">
                      <a16:colId xmlns:a16="http://schemas.microsoft.com/office/drawing/2014/main" val="2919749287"/>
                    </a:ext>
                  </a:extLst>
                </a:gridCol>
                <a:gridCol w="1556212">
                  <a:extLst>
                    <a:ext uri="{9D8B030D-6E8A-4147-A177-3AD203B41FA5}">
                      <a16:colId xmlns:a16="http://schemas.microsoft.com/office/drawing/2014/main" val="994577801"/>
                    </a:ext>
                  </a:extLst>
                </a:gridCol>
                <a:gridCol w="1669466">
                  <a:extLst>
                    <a:ext uri="{9D8B030D-6E8A-4147-A177-3AD203B41FA5}">
                      <a16:colId xmlns:a16="http://schemas.microsoft.com/office/drawing/2014/main" val="163179775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152122913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8573644"/>
                    </a:ext>
                  </a:extLst>
                </a:gridCol>
              </a:tblGrid>
              <a:tr h="6022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 (All</a:t>
                      </a:r>
                      <a:r>
                        <a:rPr lang="en-US" sz="12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features)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2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Phase2 </a:t>
                      </a: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SHAP features)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2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Phase1</a:t>
                      </a:r>
                      <a:r>
                        <a:rPr lang="en-US" sz="12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SHAP features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8595"/>
                  </a:ext>
                </a:extLst>
              </a:tr>
              <a:tr h="31996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2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Logistic</a:t>
                      </a:r>
                      <a:r>
                        <a:rPr lang="en-US" sz="14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Regression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0.29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70941"/>
                  </a:ext>
                </a:extLst>
              </a:tr>
              <a:tr h="3199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Random Forest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0.83, (RF in LR: 0.97)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0.90, (RF in LR: 0.96)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8299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1560" y="4857067"/>
            <a:ext cx="18682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SHAP Features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611560" y="5241992"/>
            <a:ext cx="840273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[‘X723.53‘, ‘X720.54', ‘X726.53', ‘X501.72', ‘X504.64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‘X929.68', ‘X507.56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‘X498.80', ‘X449.35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r>
              <a:rPr lang="en-US" sz="1600" dirty="0" smtClean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160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</a:p>
          <a:p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[‘X702.58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‘X699.60', ‘X714.55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‘X705.57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‘X525.1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‘X708.57',‘X696.61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‘X711.56', ‘X569.12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</p:txBody>
      </p:sp>
      <p:sp>
        <p:nvSpPr>
          <p:cNvPr id="10" name="Smiley Face 9"/>
          <p:cNvSpPr/>
          <p:nvPr/>
        </p:nvSpPr>
        <p:spPr bwMode="auto">
          <a:xfrm>
            <a:off x="6012160" y="2780928"/>
            <a:ext cx="504056" cy="487152"/>
          </a:xfrm>
          <a:prstGeom prst="smileyFace">
            <a:avLst>
              <a:gd name="adj" fmla="val -4653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1" i="0" u="none" strike="noStrike" cap="none" normalizeH="0" baseline="0" smtClean="0">
              <a:ln>
                <a:noFill/>
              </a:ln>
              <a:solidFill>
                <a:schemeClr val="tx2"/>
              </a:solidFill>
              <a:effectLst/>
              <a:latin typeface="Futura LT Book" pitchFamily="2" charset="0"/>
              <a:ea typeface="굴림" pitchFamily="34" charset="-127"/>
            </a:endParaRPr>
          </a:p>
        </p:txBody>
      </p:sp>
      <p:sp>
        <p:nvSpPr>
          <p:cNvPr id="11" name="Oval Callout 10"/>
          <p:cNvSpPr/>
          <p:nvPr/>
        </p:nvSpPr>
        <p:spPr bwMode="auto">
          <a:xfrm>
            <a:off x="6372200" y="2312261"/>
            <a:ext cx="900100" cy="612683"/>
          </a:xfrm>
          <a:prstGeom prst="wedgeEllipse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/>
              <a:t>Which one?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2502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5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559587" y="0"/>
            <a:ext cx="1651735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59632" y="448738"/>
            <a:ext cx="7182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Ablation on Phase 2’s wavelengths</a:t>
            </a:r>
            <a:endParaRPr lang="en-US" sz="2400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851650"/>
              </p:ext>
            </p:extLst>
          </p:nvPr>
        </p:nvGraphicFramePr>
        <p:xfrm>
          <a:off x="1115616" y="1308713"/>
          <a:ext cx="6557948" cy="2809816"/>
        </p:xfrm>
        <a:graphic>
          <a:graphicData uri="http://schemas.openxmlformats.org/drawingml/2006/table">
            <a:tbl>
              <a:tblPr firstRow="1" firstCol="1" bandRow="1"/>
              <a:tblGrid>
                <a:gridCol w="4191139">
                  <a:extLst>
                    <a:ext uri="{9D8B030D-6E8A-4147-A177-3AD203B41FA5}">
                      <a16:colId xmlns:a16="http://schemas.microsoft.com/office/drawing/2014/main" val="75984363"/>
                    </a:ext>
                  </a:extLst>
                </a:gridCol>
                <a:gridCol w="1180389">
                  <a:extLst>
                    <a:ext uri="{9D8B030D-6E8A-4147-A177-3AD203B41FA5}">
                      <a16:colId xmlns:a16="http://schemas.microsoft.com/office/drawing/2014/main" val="294169890"/>
                    </a:ext>
                  </a:extLst>
                </a:gridCol>
                <a:gridCol w="1186420">
                  <a:extLst>
                    <a:ext uri="{9D8B030D-6E8A-4147-A177-3AD203B41FA5}">
                      <a16:colId xmlns:a16="http://schemas.microsoft.com/office/drawing/2014/main" val="2073512812"/>
                    </a:ext>
                  </a:extLst>
                </a:gridCol>
              </a:tblGrid>
              <a:tr h="5775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Ablation Details of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Phase 2’s wavelengths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Method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307453"/>
                  </a:ext>
                </a:extLst>
              </a:tr>
              <a:tr h="226092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Using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4 Top features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LR: 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‘X723.53‘, ‘X720.54', ‘X726.53', ‘X501.72'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397B0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RF:</a:t>
                      </a:r>
                      <a:r>
                        <a:rPr lang="en-US" sz="1400" b="0" baseline="0" dirty="0" smtClean="0">
                          <a:solidFill>
                            <a:srgbClr val="397B0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‘X702.58', ‘X699.6', ‘X714.55', ‘X705.57'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</a:t>
                      </a:r>
                      <a:r>
                        <a:rPr lang="en-US" sz="13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</a:t>
                      </a:r>
                      <a:endParaRPr lang="en-US" sz="13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0.95</a:t>
                      </a:r>
                      <a:endParaRPr lang="en-US" sz="13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77472"/>
                  </a:ext>
                </a:extLst>
              </a:tr>
              <a:tr h="1818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i="1" dirty="0" smtClean="0">
                          <a:solidFill>
                            <a:srgbClr val="990D1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</a:t>
                      </a:r>
                      <a:endParaRPr lang="en-US" sz="1400" b="1" i="1" dirty="0">
                        <a:solidFill>
                          <a:srgbClr val="990D1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i="1" dirty="0" smtClean="0">
                          <a:solidFill>
                            <a:srgbClr val="990D1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0.85</a:t>
                      </a:r>
                      <a:endParaRPr lang="en-US" sz="1400" b="1" i="1" dirty="0">
                        <a:solidFill>
                          <a:srgbClr val="990D1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434767"/>
                  </a:ext>
                </a:extLst>
              </a:tr>
              <a:tr h="4609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 smtClean="0">
                          <a:solidFill>
                            <a:srgbClr val="990D1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</a:t>
                      </a:r>
                      <a:r>
                        <a:rPr lang="en-US" sz="1400" b="1" i="1" baseline="0" dirty="0" smtClean="0">
                          <a:solidFill>
                            <a:srgbClr val="990D1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in LR</a:t>
                      </a:r>
                      <a:endParaRPr lang="en-US" sz="1400" b="1" i="1" dirty="0" smtClean="0">
                        <a:solidFill>
                          <a:srgbClr val="990D1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i="1" dirty="0" smtClean="0">
                          <a:solidFill>
                            <a:srgbClr val="990D1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0.97</a:t>
                      </a:r>
                      <a:endParaRPr lang="en-US" sz="1400" b="1" i="1" dirty="0">
                        <a:solidFill>
                          <a:srgbClr val="990D1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066387"/>
                  </a:ext>
                </a:extLst>
              </a:tr>
              <a:tr h="226092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Using Top Unique feature ranges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LR: </a:t>
                      </a:r>
                      <a:r>
                        <a:rPr lang="en-US" sz="1400" b="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'X723.53', 'X501.72', 'X929.68', 'X498.80' 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strike="noStrike" dirty="0" smtClean="0">
                          <a:solidFill>
                            <a:srgbClr val="397B0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RF:</a:t>
                      </a:r>
                      <a:r>
                        <a:rPr lang="en-US" sz="1400" b="0" strike="noStrike" baseline="0" dirty="0" smtClean="0">
                          <a:solidFill>
                            <a:srgbClr val="397B0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1400" b="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'X702.58', 'X699.60', 'X525.10'</a:t>
                      </a:r>
                      <a:endParaRPr lang="en-US" sz="1400" b="1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i="1" dirty="0" smtClean="0">
                          <a:solidFill>
                            <a:srgbClr val="990D1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</a:t>
                      </a:r>
                      <a:r>
                        <a:rPr lang="en-US" sz="1400" b="1" i="1" baseline="0" dirty="0" smtClean="0">
                          <a:solidFill>
                            <a:srgbClr val="990D1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</a:t>
                      </a:r>
                      <a:endParaRPr lang="en-US" sz="1400" b="1" i="1" dirty="0">
                        <a:solidFill>
                          <a:srgbClr val="990D1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i="1" dirty="0" smtClean="0">
                          <a:solidFill>
                            <a:srgbClr val="990D1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0.96</a:t>
                      </a:r>
                      <a:endParaRPr lang="en-US" sz="1400" b="1" i="1" dirty="0">
                        <a:solidFill>
                          <a:srgbClr val="990D1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457668"/>
                  </a:ext>
                </a:extLst>
              </a:tr>
              <a:tr h="1742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1" i="1" u="none" strike="noStrike" dirty="0" smtClean="0">
                          <a:solidFill>
                            <a:srgbClr val="990D1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</a:t>
                      </a:r>
                      <a:endParaRPr lang="en-US" sz="1300" b="1" i="1" u="none" strike="noStrike" dirty="0">
                        <a:solidFill>
                          <a:srgbClr val="990D1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1" i="1" u="none" strike="noStrike" dirty="0" smtClean="0">
                          <a:solidFill>
                            <a:srgbClr val="990D1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0.90</a:t>
                      </a:r>
                      <a:endParaRPr lang="en-US" sz="1300" b="1" i="1" u="none" strike="noStrike" dirty="0">
                        <a:solidFill>
                          <a:srgbClr val="990D1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732661"/>
                  </a:ext>
                </a:extLst>
              </a:tr>
              <a:tr h="7154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1" strike="noStrike" dirty="0" smtClean="0">
                          <a:solidFill>
                            <a:srgbClr val="990D1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</a:t>
                      </a:r>
                      <a:r>
                        <a:rPr lang="en-US" sz="1300" b="1" i="1" strike="noStrike" baseline="0" dirty="0" smtClean="0">
                          <a:solidFill>
                            <a:srgbClr val="990D1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in LR</a:t>
                      </a:r>
                      <a:endParaRPr lang="en-US" sz="1300" b="1" i="1" strike="noStrike" dirty="0" smtClean="0">
                        <a:solidFill>
                          <a:srgbClr val="990D1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1" i="1" strike="noStrike" dirty="0" smtClean="0">
                        <a:solidFill>
                          <a:srgbClr val="990D1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1" strike="noStrike" dirty="0" smtClean="0">
                          <a:solidFill>
                            <a:srgbClr val="990D16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0.96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300" b="1" i="1" strike="noStrike" dirty="0">
                        <a:solidFill>
                          <a:srgbClr val="990D1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46572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820395" y="4613066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0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possible formula</a:t>
            </a:r>
            <a:endParaRPr lang="en-US" sz="2000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59632" y="5040024"/>
            <a:ext cx="7618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per LR and RF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Phase 2 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4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per old SHAPS in LR and RF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per new </a:t>
            </a:r>
            <a:r>
              <a:rPr lang="en-US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SHAPS in LR and RF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Phase 3  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8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per old SHAPS in LR and RF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+ 2</a:t>
            </a:r>
            <a:r>
              <a:rPr lang="en-US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per new SHAPS in LR 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and RF </a:t>
            </a:r>
            <a:endParaRPr lang="en-US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+ 2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per 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4_Top_SHAPS </a:t>
            </a:r>
            <a:r>
              <a:rPr lang="en-US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 LR and RF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+ 2</a:t>
            </a:r>
            <a:r>
              <a:rPr lang="en-US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per </a:t>
            </a:r>
            <a:r>
              <a:rPr lang="en-US" sz="16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Unique </a:t>
            </a:r>
            <a:r>
              <a:rPr lang="en-US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SHAPS in LR and RF </a:t>
            </a:r>
          </a:p>
          <a:p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miley Face 9"/>
          <p:cNvSpPr/>
          <p:nvPr/>
        </p:nvSpPr>
        <p:spPr bwMode="auto">
          <a:xfrm>
            <a:off x="7774005" y="2500805"/>
            <a:ext cx="504056" cy="487152"/>
          </a:xfrm>
          <a:prstGeom prst="smileyFace">
            <a:avLst>
              <a:gd name="adj" fmla="val -4653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1" i="0" u="none" strike="noStrike" cap="none" normalizeH="0" baseline="0" smtClean="0">
              <a:ln>
                <a:noFill/>
              </a:ln>
              <a:solidFill>
                <a:schemeClr val="tx2"/>
              </a:solidFill>
              <a:effectLst/>
              <a:latin typeface="Futura LT Book" pitchFamily="2" charset="0"/>
              <a:ea typeface="굴림" pitchFamily="34" charset="-127"/>
            </a:endParaRPr>
          </a:p>
        </p:txBody>
      </p:sp>
      <p:sp>
        <p:nvSpPr>
          <p:cNvPr id="11" name="Oval Callout 10"/>
          <p:cNvSpPr/>
          <p:nvPr/>
        </p:nvSpPr>
        <p:spPr bwMode="auto">
          <a:xfrm>
            <a:off x="7828011" y="1735516"/>
            <a:ext cx="900100" cy="612683"/>
          </a:xfrm>
          <a:prstGeom prst="wedgeEllipse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/>
              <a:t>Which one?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8569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1043608" y="0"/>
            <a:ext cx="1167714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612180" y="764704"/>
            <a:ext cx="7074620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66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666666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66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66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66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66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66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66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</a:pPr>
            <a:r>
              <a:rPr lang="en-US" sz="2400" b="1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What’s in next slides?</a:t>
            </a:r>
            <a:endParaRPr lang="en-US" sz="2400" b="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453188"/>
            <a:ext cx="2133600" cy="268287"/>
          </a:xfrm>
        </p:spPr>
        <p:txBody>
          <a:bodyPr/>
          <a:lstStyle/>
          <a:p>
            <a:fld id="{39B8F9E8-069D-482A-99F8-983C1284A706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1322723" y="1615108"/>
            <a:ext cx="7488832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66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666666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66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66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66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66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66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66"/>
                </a:solidFill>
                <a:latin typeface="+mn-lt"/>
              </a:defRPr>
            </a:lvl9pPr>
          </a:lstStyle>
          <a:p>
            <a:pPr marL="0" indent="0" algn="just">
              <a:buFontTx/>
              <a:buNone/>
            </a:pPr>
            <a:r>
              <a:rPr lang="en-US" sz="2400" b="1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2 new test sets: </a:t>
            </a:r>
          </a:p>
          <a:p>
            <a:pPr marL="0" indent="0" algn="just">
              <a:buFontTx/>
              <a:buNone/>
            </a:pPr>
            <a:r>
              <a:rPr lang="en-US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Anna3_Barley_Polypen_16May (ROSA NEW)</a:t>
            </a:r>
          </a:p>
          <a:p>
            <a:pPr marL="0" indent="0" algn="just">
              <a:buFontTx/>
              <a:buNone/>
            </a:pPr>
            <a:r>
              <a:rPr lang="en-US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Anna3_specim_16_May</a:t>
            </a:r>
          </a:p>
          <a:p>
            <a:pPr marL="0" indent="0" algn="just">
              <a:buFontTx/>
              <a:buNone/>
            </a:pPr>
            <a:endParaRPr lang="en-US" b="1" kern="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Tx/>
              <a:buNone/>
            </a:pPr>
            <a:r>
              <a:rPr lang="en-US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We mix (1) with “Marco2” and redo the experiments on phase1&amp;2 to see the accuracy.</a:t>
            </a:r>
          </a:p>
          <a:p>
            <a:pPr marL="0" indent="0" algn="just">
              <a:buNone/>
            </a:pPr>
            <a:endParaRPr lang="en-US" kern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We </a:t>
            </a:r>
            <a:r>
              <a:rPr lang="en-US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</a:t>
            </a:r>
            <a:r>
              <a:rPr lang="en-US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“Anna1 + Anna2 + Marco1 + 35_Remaining_samples_of_Michele” and redo the experiments on phase1&amp;2 </a:t>
            </a:r>
            <a:r>
              <a:rPr lang="en-US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see the accuracy</a:t>
            </a:r>
            <a:r>
              <a:rPr lang="en-US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FontTx/>
              <a:buNone/>
            </a:pPr>
            <a:endParaRPr lang="en-US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59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7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688209" y="0"/>
            <a:ext cx="1363511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58536"/>
              </p:ext>
            </p:extLst>
          </p:nvPr>
        </p:nvGraphicFramePr>
        <p:xfrm>
          <a:off x="1496867" y="4827787"/>
          <a:ext cx="7200800" cy="1265509"/>
        </p:xfrm>
        <a:graphic>
          <a:graphicData uri="http://schemas.openxmlformats.org/drawingml/2006/table">
            <a:tbl>
              <a:tblPr firstRow="1" firstCol="1" bandRow="1"/>
              <a:tblGrid>
                <a:gridCol w="1890038">
                  <a:extLst>
                    <a:ext uri="{9D8B030D-6E8A-4147-A177-3AD203B41FA5}">
                      <a16:colId xmlns:a16="http://schemas.microsoft.com/office/drawing/2014/main" val="99457780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152122913"/>
                    </a:ext>
                  </a:extLst>
                </a:gridCol>
                <a:gridCol w="2718474">
                  <a:extLst>
                    <a:ext uri="{9D8B030D-6E8A-4147-A177-3AD203B41FA5}">
                      <a16:colId xmlns:a16="http://schemas.microsoft.com/office/drawing/2014/main" val="383637665"/>
                    </a:ext>
                  </a:extLst>
                </a:gridCol>
              </a:tblGrid>
              <a:tr h="6433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Pahse1’s SHAP features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Pahse2’s SHAP features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8595"/>
                  </a:ext>
                </a:extLst>
              </a:tr>
              <a:tr h="311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</a:t>
                      </a:r>
                      <a:r>
                        <a:rPr lang="en-US" sz="15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Regression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0.83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70941"/>
                  </a:ext>
                </a:extLst>
              </a:tr>
              <a:tr h="311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0.92, (RF in LR: 0.98)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fa-IR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93</a:t>
                      </a: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(</a:t>
                      </a:r>
                      <a:r>
                        <a:rPr lang="en-US" sz="1600" b="1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RF in LR: 1.0</a:t>
                      </a: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8299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79407" y="1619508"/>
            <a:ext cx="3230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Phase1’s SHAP Features</a:t>
            </a: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979407" y="1909281"/>
            <a:ext cx="84170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1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['X714.55', 'X717.54', 'X711.56', 'X720.54', 'X708.57', 'X723.53', 'X726.53', 'X729.53', </a:t>
            </a:r>
            <a:r>
              <a:rPr lang="en-US" sz="1500" strike="sngStrik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'X819.95'</a:t>
            </a:r>
            <a:r>
              <a:rPr lang="en-US" sz="150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sz="150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['X702.58', 'X714.55', 'X705.57', 'X708.57', 'X711.56', 'X717.54', 'X563.24', 'X542.68', 'X720.54']</a:t>
            </a:r>
          </a:p>
        </p:txBody>
      </p:sp>
      <p:cxnSp>
        <p:nvCxnSpPr>
          <p:cNvPr id="12" name="Straight Arrow Connector 11"/>
          <p:cNvCxnSpPr/>
          <p:nvPr/>
        </p:nvCxnSpPr>
        <p:spPr bwMode="auto">
          <a:xfrm>
            <a:off x="8180207" y="1772816"/>
            <a:ext cx="0" cy="36004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6935432" y="1482621"/>
            <a:ext cx="220856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exist in </a:t>
            </a:r>
            <a:r>
              <a:rPr lang="en-US" sz="1500" b="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Polypen</a:t>
            </a:r>
            <a:endParaRPr lang="en-US" sz="15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35430" y="3238817"/>
            <a:ext cx="3230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Phase2’s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800" dirty="0"/>
          </a:p>
        </p:txBody>
      </p:sp>
      <p:cxnSp>
        <p:nvCxnSpPr>
          <p:cNvPr id="23" name="Straight Arrow Connector 22"/>
          <p:cNvCxnSpPr/>
          <p:nvPr/>
        </p:nvCxnSpPr>
        <p:spPr bwMode="auto">
          <a:xfrm>
            <a:off x="5844464" y="3392125"/>
            <a:ext cx="0" cy="36004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Rectangle 24"/>
          <p:cNvSpPr/>
          <p:nvPr/>
        </p:nvSpPr>
        <p:spPr>
          <a:xfrm>
            <a:off x="1085721" y="3600598"/>
            <a:ext cx="84027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1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[‘X723.53‘, ‘X720.54', ‘X726.53', ‘X501.72', ‘X504.64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strike="sngStrike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‘X929.68</a:t>
            </a:r>
            <a:r>
              <a:rPr lang="en-US" sz="15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‘X507.56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‘X498.80', ‘X449.35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r>
              <a:rPr lang="en-US" sz="1500" dirty="0" smtClean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150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</a:p>
          <a:p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[‘X702.58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‘X699.60', ‘X714.55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‘X705.57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‘X525.1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‘X708.57',‘X696.61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‘X711.56', ‘X569.12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7435" y="3140968"/>
            <a:ext cx="22140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exist in </a:t>
            </a:r>
            <a:r>
              <a:rPr lang="en-US" sz="1500" b="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Polypen</a:t>
            </a:r>
            <a:endParaRPr lang="en-US" sz="15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8209" y="262389"/>
            <a:ext cx="85801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Phase 1 and 2’s features on a new test set</a:t>
            </a:r>
            <a:r>
              <a:rPr lang="fa-IR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“Marco2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Anna3_Barley_Polypen_16May </a:t>
            </a:r>
            <a:r>
              <a:rPr lang="en-US" sz="20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ROSA NEW</a:t>
            </a:r>
            <a:r>
              <a:rPr lang="en-US" sz="20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56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8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899592" y="0"/>
            <a:ext cx="1311730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53891" y="923310"/>
            <a:ext cx="7182544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1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Ablated </a:t>
            </a:r>
            <a:r>
              <a:rPr lang="en-US" sz="21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  <a:r>
              <a:rPr lang="en-US" sz="21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1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Phase2 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 new test </a:t>
            </a:r>
            <a:r>
              <a:rPr lang="en-US" sz="21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Marco2 + </a:t>
            </a:r>
            <a:r>
              <a:rPr lang="en-US" sz="2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Anna3_Barley_Polypen_16May </a:t>
            </a:r>
            <a:r>
              <a:rPr 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(ROSA NEW</a:t>
            </a:r>
            <a:r>
              <a:rPr lang="en-US" sz="2000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sz="21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1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1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553289"/>
              </p:ext>
            </p:extLst>
          </p:nvPr>
        </p:nvGraphicFramePr>
        <p:xfrm>
          <a:off x="1766189" y="2096852"/>
          <a:ext cx="6557948" cy="2711985"/>
        </p:xfrm>
        <a:graphic>
          <a:graphicData uri="http://schemas.openxmlformats.org/drawingml/2006/table">
            <a:tbl>
              <a:tblPr firstRow="1" firstCol="1" bandRow="1"/>
              <a:tblGrid>
                <a:gridCol w="4191139">
                  <a:extLst>
                    <a:ext uri="{9D8B030D-6E8A-4147-A177-3AD203B41FA5}">
                      <a16:colId xmlns:a16="http://schemas.microsoft.com/office/drawing/2014/main" val="75984363"/>
                    </a:ext>
                  </a:extLst>
                </a:gridCol>
                <a:gridCol w="1180389">
                  <a:extLst>
                    <a:ext uri="{9D8B030D-6E8A-4147-A177-3AD203B41FA5}">
                      <a16:colId xmlns:a16="http://schemas.microsoft.com/office/drawing/2014/main" val="294169890"/>
                    </a:ext>
                  </a:extLst>
                </a:gridCol>
                <a:gridCol w="1186420">
                  <a:extLst>
                    <a:ext uri="{9D8B030D-6E8A-4147-A177-3AD203B41FA5}">
                      <a16:colId xmlns:a16="http://schemas.microsoft.com/office/drawing/2014/main" val="2073512812"/>
                    </a:ext>
                  </a:extLst>
                </a:gridCol>
              </a:tblGrid>
              <a:tr h="4320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Ablation Details of</a:t>
                      </a:r>
                      <a:r>
                        <a:rPr lang="en-US" sz="16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Phase 2’s wavelengths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307453"/>
                  </a:ext>
                </a:extLst>
              </a:tr>
              <a:tr h="226092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Using</a:t>
                      </a:r>
                      <a:r>
                        <a:rPr lang="en-US" sz="1600" b="1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4 Top features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LR: 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‘X723.53‘, ‘X720.54', ‘X726.53', ‘X501.72'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397B0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RF:</a:t>
                      </a:r>
                      <a:r>
                        <a:rPr lang="en-US" sz="1400" b="0" baseline="0" dirty="0" smtClean="0">
                          <a:solidFill>
                            <a:srgbClr val="397B0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‘X702.58', ‘X699.6', ‘X714.55', ‘X705.57'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</a:t>
                      </a:r>
                      <a:endParaRPr lang="en-US" sz="13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fa-IR" sz="1300" b="0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88</a:t>
                      </a:r>
                      <a:endParaRPr lang="en-US" sz="1300" b="0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77472"/>
                  </a:ext>
                </a:extLst>
              </a:tr>
              <a:tr h="1818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a-IR" sz="1400" b="0" i="1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US" sz="1400" b="0" i="1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434767"/>
                  </a:ext>
                </a:extLst>
              </a:tr>
              <a:tr h="4609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</a:t>
                      </a:r>
                      <a:r>
                        <a:rPr lang="en-US" sz="1400" b="0" i="1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in LR</a:t>
                      </a:r>
                      <a:endParaRPr lang="en-US" sz="1400" b="0" i="1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i="1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US" sz="1600" b="1" i="1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066387"/>
                  </a:ext>
                </a:extLst>
              </a:tr>
              <a:tr h="226092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b="1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Using Top Unique feature ranges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LR: </a:t>
                      </a:r>
                      <a:r>
                        <a:rPr lang="en-US" sz="1400" b="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'X723.53', 'X501.72', </a:t>
                      </a:r>
                      <a:r>
                        <a:rPr lang="en-US" sz="1600" b="1" strike="sng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'X929.68</a:t>
                      </a:r>
                      <a:r>
                        <a:rPr lang="en-US" sz="1400" b="0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'</a:t>
                      </a:r>
                      <a:r>
                        <a:rPr lang="en-US" sz="1400" b="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, 'X498.80' 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strike="noStrike" dirty="0" smtClean="0">
                          <a:solidFill>
                            <a:srgbClr val="397B0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RF:</a:t>
                      </a:r>
                      <a:r>
                        <a:rPr lang="en-US" sz="1400" b="0" strike="noStrike" baseline="0" dirty="0" smtClean="0">
                          <a:solidFill>
                            <a:srgbClr val="397B0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1400" b="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'X702.58', 'X699.60', 'X525.10'</a:t>
                      </a:r>
                      <a:endParaRPr lang="en-US" sz="1400" b="1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</a:t>
                      </a:r>
                      <a:r>
                        <a:rPr lang="en-US" sz="1400" b="0" i="1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</a:t>
                      </a:r>
                      <a:endParaRPr lang="en-US" sz="1400" b="0" i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a-IR" sz="1400" b="1" i="1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US" sz="1400" b="1" i="1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457668"/>
                  </a:ext>
                </a:extLst>
              </a:tr>
              <a:tr h="1742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0" i="1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</a:t>
                      </a:r>
                      <a:endParaRPr lang="en-US" sz="13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a-IR" sz="1600" b="1" i="1" u="none" strike="noStrike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US" sz="1600" b="1" i="1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732661"/>
                  </a:ext>
                </a:extLst>
              </a:tr>
              <a:tr h="7154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1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</a:t>
                      </a:r>
                      <a:r>
                        <a:rPr lang="en-US" sz="1300" b="0" i="1" strike="noStrike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in LR</a:t>
                      </a:r>
                      <a:endParaRPr lang="en-US" sz="1300" b="0" i="1" strike="noStrike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i="1" strike="sngStrike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i="1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0.98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300" b="0" i="1" strike="sng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465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60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9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688209" y="0"/>
            <a:ext cx="1363511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572458"/>
              </p:ext>
            </p:extLst>
          </p:nvPr>
        </p:nvGraphicFramePr>
        <p:xfrm>
          <a:off x="1496867" y="4437112"/>
          <a:ext cx="7200800" cy="1265509"/>
        </p:xfrm>
        <a:graphic>
          <a:graphicData uri="http://schemas.openxmlformats.org/drawingml/2006/table">
            <a:tbl>
              <a:tblPr firstRow="1" firstCol="1" bandRow="1"/>
              <a:tblGrid>
                <a:gridCol w="1890038">
                  <a:extLst>
                    <a:ext uri="{9D8B030D-6E8A-4147-A177-3AD203B41FA5}">
                      <a16:colId xmlns:a16="http://schemas.microsoft.com/office/drawing/2014/main" val="99457780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152122913"/>
                    </a:ext>
                  </a:extLst>
                </a:gridCol>
                <a:gridCol w="2718474">
                  <a:extLst>
                    <a:ext uri="{9D8B030D-6E8A-4147-A177-3AD203B41FA5}">
                      <a16:colId xmlns:a16="http://schemas.microsoft.com/office/drawing/2014/main" val="383637665"/>
                    </a:ext>
                  </a:extLst>
                </a:gridCol>
              </a:tblGrid>
              <a:tr h="6433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Pahse1’s SHAP features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Pahse2’s SHAP features</a:t>
                      </a: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8595"/>
                  </a:ext>
                </a:extLst>
              </a:tr>
              <a:tr h="311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</a:t>
                      </a:r>
                      <a:r>
                        <a:rPr lang="en-US" sz="15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Regression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fa-IR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84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8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70941"/>
                  </a:ext>
                </a:extLst>
              </a:tr>
              <a:tr h="3110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5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5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fa-IR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75</a:t>
                      </a: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(RF in LR: 0.88)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0.81, (RF in LR: 0.94)</a:t>
                      </a:r>
                      <a:endParaRPr lang="en-US" sz="1400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8299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71047" y="1202849"/>
            <a:ext cx="3060453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Phase1’s SHAP Features</a:t>
            </a:r>
            <a:endParaRPr lang="en-US" sz="1700" dirty="0"/>
          </a:p>
        </p:txBody>
      </p:sp>
      <p:sp>
        <p:nvSpPr>
          <p:cNvPr id="9" name="Rectangle 8"/>
          <p:cNvSpPr/>
          <p:nvPr/>
        </p:nvSpPr>
        <p:spPr>
          <a:xfrm>
            <a:off x="979407" y="1477233"/>
            <a:ext cx="84170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1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['X714.55', 'X717.54', 'X711.56', 'X720.54', 'X708.57', 'X723.53', 'X726.53', 'X729.53', </a:t>
            </a:r>
            <a:r>
              <a:rPr lang="en-US" sz="15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'X819.95'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sz="150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['X702.58', 'X714.55', 'X705.57', 'X708.57', 'X711.56', 'X717.54', 'X563.24', 'X542.68', 'X720.54']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5430" y="2715017"/>
            <a:ext cx="3060453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Phase2’s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</a:t>
            </a:r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700" dirty="0"/>
          </a:p>
        </p:txBody>
      </p:sp>
      <p:sp>
        <p:nvSpPr>
          <p:cNvPr id="25" name="Rectangle 24"/>
          <p:cNvSpPr/>
          <p:nvPr/>
        </p:nvSpPr>
        <p:spPr>
          <a:xfrm>
            <a:off x="1065806" y="2989401"/>
            <a:ext cx="84027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1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[‘X723.53‘, ‘X720.54', ‘X726.53', ‘X501.72', ‘X504.64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‘X929.68</a:t>
            </a:r>
            <a:r>
              <a:rPr lang="en-US" sz="1500" b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‘X507.56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‘X498.80', ‘X449.35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r>
              <a:rPr lang="en-US" sz="1500" dirty="0" smtClean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</a:t>
            </a:r>
            <a:r>
              <a:rPr lang="en-US" sz="1500" dirty="0">
                <a:solidFill>
                  <a:srgbClr val="397B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</a:p>
          <a:p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[‘X702.58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‘X699.60', ‘X714.55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‘X705.57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‘X525.1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‘X708.57',‘X696.61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5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‘X711.56', ‘X569.12</a:t>
            </a:r>
            <a:r>
              <a:rPr lang="en-US" sz="15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8209" y="262389"/>
            <a:ext cx="85801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Phase 1 and 2’s features on a new test set</a:t>
            </a:r>
            <a:r>
              <a:rPr lang="fa-IR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“Anna1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Anna2 + Marco1 + 35_Remaining_samples_of_Michele + Anna3_specim_16_May”</a:t>
            </a:r>
          </a:p>
        </p:txBody>
      </p:sp>
    </p:spTree>
    <p:extLst>
      <p:ext uri="{BB962C8B-B14F-4D97-AF65-F5344CB8AC3E}">
        <p14:creationId xmlns:p14="http://schemas.microsoft.com/office/powerpoint/2010/main" val="395304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7702" y="6433686"/>
            <a:ext cx="359930" cy="307682"/>
          </a:xfrm>
        </p:spPr>
        <p:txBody>
          <a:bodyPr/>
          <a:lstStyle/>
          <a:p>
            <a:fld id="{6747EAC7-9E16-4F91-92F5-B839A0595459}" type="slidenum">
              <a:rPr lang="ru-RU" altLang="ru-RU" sz="1000"/>
              <a:pPr/>
              <a:t>10</a:t>
            </a:fld>
            <a:endParaRPr lang="ru-RU" altLang="ru-RU" sz="1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971600" y="0"/>
            <a:ext cx="1239722" cy="6858000"/>
          </a:xfrm>
          <a:prstGeom prst="rect">
            <a:avLst/>
          </a:prstGeom>
          <a:solidFill>
            <a:srgbClr val="FFFF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12" tIns="45706" rIns="91412" bIns="45706" numCol="1" rtlCol="0" anchor="t" anchorCtr="0" compatLnSpc="1">
            <a:prstTxWarp prst="textNoShape">
              <a:avLst/>
            </a:prstTxWarp>
          </a:bodyPr>
          <a:lstStyle/>
          <a:p>
            <a:pPr defTabSz="914103"/>
            <a:endParaRPr lang="en-US" sz="1799">
              <a:latin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35258" y="692696"/>
            <a:ext cx="743345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1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Ablated Features of Phase 2’s wavelengths </a:t>
            </a:r>
            <a:r>
              <a:rPr lang="en-US" sz="2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 new test set</a:t>
            </a:r>
            <a:r>
              <a:rPr lang="fa-IR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“Anna1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Anna2 + Marco1 </a:t>
            </a:r>
            <a:r>
              <a:rPr 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+ 35_Remaining_samples_of_Michele + Anna3_specim_16_May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endParaRPr lang="en-US" sz="2100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809916"/>
              </p:ext>
            </p:extLst>
          </p:nvPr>
        </p:nvGraphicFramePr>
        <p:xfrm>
          <a:off x="1740212" y="2204864"/>
          <a:ext cx="6557948" cy="2809816"/>
        </p:xfrm>
        <a:graphic>
          <a:graphicData uri="http://schemas.openxmlformats.org/drawingml/2006/table">
            <a:tbl>
              <a:tblPr firstRow="1" firstCol="1" bandRow="1"/>
              <a:tblGrid>
                <a:gridCol w="4191139">
                  <a:extLst>
                    <a:ext uri="{9D8B030D-6E8A-4147-A177-3AD203B41FA5}">
                      <a16:colId xmlns:a16="http://schemas.microsoft.com/office/drawing/2014/main" val="75984363"/>
                    </a:ext>
                  </a:extLst>
                </a:gridCol>
                <a:gridCol w="1180389">
                  <a:extLst>
                    <a:ext uri="{9D8B030D-6E8A-4147-A177-3AD203B41FA5}">
                      <a16:colId xmlns:a16="http://schemas.microsoft.com/office/drawing/2014/main" val="294169890"/>
                    </a:ext>
                  </a:extLst>
                </a:gridCol>
                <a:gridCol w="1186420">
                  <a:extLst>
                    <a:ext uri="{9D8B030D-6E8A-4147-A177-3AD203B41FA5}">
                      <a16:colId xmlns:a16="http://schemas.microsoft.com/office/drawing/2014/main" val="2073512812"/>
                    </a:ext>
                  </a:extLst>
                </a:gridCol>
              </a:tblGrid>
              <a:tr h="5775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Ablation Details of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Phase 2’s wavelengths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Method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accuracy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307453"/>
                  </a:ext>
                </a:extLst>
              </a:tr>
              <a:tr h="226092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Using</a:t>
                      </a:r>
                      <a:r>
                        <a:rPr lang="en-US" sz="1400" b="1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4 Top features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LR: 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‘X723.53‘, ‘X720.54', ‘X726.53', ‘X501.72'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dirty="0" smtClean="0">
                          <a:solidFill>
                            <a:srgbClr val="397B0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RF:</a:t>
                      </a:r>
                      <a:r>
                        <a:rPr lang="en-US" sz="1400" b="0" baseline="0" dirty="0" smtClean="0">
                          <a:solidFill>
                            <a:srgbClr val="397B0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‘X702.58', ‘X699.6', ‘X714.55', ‘X705.57'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0" i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</a:t>
                      </a:r>
                      <a:r>
                        <a:rPr lang="en-US" sz="1300" b="0" i="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</a:t>
                      </a:r>
                      <a:endParaRPr lang="en-US" sz="13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0" i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0.63</a:t>
                      </a:r>
                      <a:endParaRPr lang="en-US" sz="13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577472"/>
                  </a:ext>
                </a:extLst>
              </a:tr>
              <a:tr h="1818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</a:t>
                      </a:r>
                      <a:endParaRPr lang="en-US" sz="1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0.86</a:t>
                      </a:r>
                      <a:endParaRPr lang="en-US" sz="1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434767"/>
                  </a:ext>
                </a:extLst>
              </a:tr>
              <a:tr h="4609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</a:t>
                      </a:r>
                      <a:r>
                        <a:rPr lang="en-US" sz="1400" b="0" i="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in LR</a:t>
                      </a:r>
                      <a:endParaRPr lang="en-US" sz="1400" b="0" i="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0.93</a:t>
                      </a:r>
                      <a:endParaRPr lang="en-US" sz="1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066387"/>
                  </a:ext>
                </a:extLst>
              </a:tr>
              <a:tr h="226092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Using Top Unique feature ranges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LR: </a:t>
                      </a:r>
                      <a:r>
                        <a:rPr lang="en-US" sz="1400" b="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'X723.53', 'X501.72', 'X929.68', 'X498.80' 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1" strike="noStrike" dirty="0" smtClean="0">
                          <a:solidFill>
                            <a:srgbClr val="397B0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RF:</a:t>
                      </a:r>
                      <a:r>
                        <a:rPr lang="en-US" sz="1400" b="0" strike="noStrike" baseline="0" dirty="0" smtClean="0">
                          <a:solidFill>
                            <a:srgbClr val="397B0D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1400" b="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'X702.58', 'X699.60', 'X525.10'</a:t>
                      </a:r>
                      <a:endParaRPr lang="en-US" sz="1400" b="1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L</a:t>
                      </a:r>
                      <a:r>
                        <a:rPr lang="en-US" sz="1400" b="0" i="0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</a:t>
                      </a:r>
                      <a:endParaRPr lang="en-US" sz="1400" b="0" i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400" b="0" i="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0.91</a:t>
                      </a:r>
                      <a:endParaRPr lang="en-US" sz="1400" b="0" i="0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457668"/>
                  </a:ext>
                </a:extLst>
              </a:tr>
              <a:tr h="1742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3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0.88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FF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732661"/>
                  </a:ext>
                </a:extLst>
              </a:tr>
              <a:tr h="7154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RF</a:t>
                      </a:r>
                      <a:r>
                        <a:rPr lang="en-US" sz="1300" b="0" i="0" strike="noStrike" baseline="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in LR</a:t>
                      </a:r>
                      <a:endParaRPr lang="en-US" sz="1300" b="0" i="0" strike="noStrike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3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b="0" i="0" strike="sngStrike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i="0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0.95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300" b="0" i="0" strike="sng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7649" marR="67649" marT="9396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B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465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76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">
  <a:themeElements>
    <a:clrScheme name="template 4">
      <a:dk1>
        <a:srgbClr val="4D4D4D"/>
      </a:dk1>
      <a:lt1>
        <a:srgbClr val="FFFFFF"/>
      </a:lt1>
      <a:dk2>
        <a:srgbClr val="000000"/>
      </a:dk2>
      <a:lt2>
        <a:srgbClr val="9B6902"/>
      </a:lt2>
      <a:accent1>
        <a:srgbClr val="C75E00"/>
      </a:accent1>
      <a:accent2>
        <a:srgbClr val="FED416"/>
      </a:accent2>
      <a:accent3>
        <a:srgbClr val="FFFFFF"/>
      </a:accent3>
      <a:accent4>
        <a:srgbClr val="404040"/>
      </a:accent4>
      <a:accent5>
        <a:srgbClr val="E0B6AA"/>
      </a:accent5>
      <a:accent6>
        <a:srgbClr val="E6C013"/>
      </a:accent6>
      <a:hlink>
        <a:srgbClr val="EE6600"/>
      </a:hlink>
      <a:folHlink>
        <a:srgbClr val="EAEAEA"/>
      </a:folHlink>
    </a:clrScheme>
    <a:fontScheme name="template">
      <a:majorFont>
        <a:latin typeface="Futura LT Book"/>
        <a:ea typeface="굴림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6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utura LT Book" pitchFamily="2" charset="0"/>
            <a:ea typeface="굴림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6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utura LT Book" pitchFamily="2" charset="0"/>
            <a:ea typeface="굴림" pitchFamily="34" charset="-127"/>
          </a:defRPr>
        </a:defPPr>
      </a:lstStyle>
    </a:lnDef>
  </a:objectDefaults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D5E1F3"/>
        </a:lt2>
        <a:accent1>
          <a:srgbClr val="BC4417"/>
        </a:accent1>
        <a:accent2>
          <a:srgbClr val="CF9C1C"/>
        </a:accent2>
        <a:accent3>
          <a:srgbClr val="FFFFFF"/>
        </a:accent3>
        <a:accent4>
          <a:srgbClr val="404040"/>
        </a:accent4>
        <a:accent5>
          <a:srgbClr val="DAB0AB"/>
        </a:accent5>
        <a:accent6>
          <a:srgbClr val="BB8D18"/>
        </a:accent6>
        <a:hlink>
          <a:srgbClr val="E8C97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986615"/>
        </a:lt2>
        <a:accent1>
          <a:srgbClr val="BF4413"/>
        </a:accent1>
        <a:accent2>
          <a:srgbClr val="FFAB21"/>
        </a:accent2>
        <a:accent3>
          <a:srgbClr val="FFFFFF"/>
        </a:accent3>
        <a:accent4>
          <a:srgbClr val="404040"/>
        </a:accent4>
        <a:accent5>
          <a:srgbClr val="DCB0AA"/>
        </a:accent5>
        <a:accent6>
          <a:srgbClr val="E79B1D"/>
        </a:accent6>
        <a:hlink>
          <a:srgbClr val="C5A3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4A1B17"/>
        </a:lt2>
        <a:accent1>
          <a:srgbClr val="C66C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DFBAAA"/>
        </a:accent5>
        <a:accent6>
          <a:srgbClr val="E6C013"/>
        </a:accent6>
        <a:hlink>
          <a:srgbClr val="FFDE93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9B6902"/>
        </a:lt2>
        <a:accent1>
          <a:srgbClr val="C75E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E0B6AA"/>
        </a:accent5>
        <a:accent6>
          <a:srgbClr val="E6C013"/>
        </a:accent6>
        <a:hlink>
          <a:srgbClr val="EE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570301"/>
        </a:lt2>
        <a:accent1>
          <a:srgbClr val="D37E00"/>
        </a:accent1>
        <a:accent2>
          <a:srgbClr val="F5CB03"/>
        </a:accent2>
        <a:accent3>
          <a:srgbClr val="FFFFFF"/>
        </a:accent3>
        <a:accent4>
          <a:srgbClr val="404040"/>
        </a:accent4>
        <a:accent5>
          <a:srgbClr val="E6C0AA"/>
        </a:accent5>
        <a:accent6>
          <a:srgbClr val="DEB802"/>
        </a:accent6>
        <a:hlink>
          <a:srgbClr val="D860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713C0C"/>
        </a:lt2>
        <a:accent1>
          <a:srgbClr val="E4B058"/>
        </a:accent1>
        <a:accent2>
          <a:srgbClr val="FDD912"/>
        </a:accent2>
        <a:accent3>
          <a:srgbClr val="FFFFFF"/>
        </a:accent3>
        <a:accent4>
          <a:srgbClr val="404040"/>
        </a:accent4>
        <a:accent5>
          <a:srgbClr val="EFD4B4"/>
        </a:accent5>
        <a:accent6>
          <a:srgbClr val="E5C40F"/>
        </a:accent6>
        <a:hlink>
          <a:srgbClr val="E063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953900"/>
        </a:lt2>
        <a:accent1>
          <a:srgbClr val="B65300"/>
        </a:accent1>
        <a:accent2>
          <a:srgbClr val="CE6A00"/>
        </a:accent2>
        <a:accent3>
          <a:srgbClr val="FFFFFF"/>
        </a:accent3>
        <a:accent4>
          <a:srgbClr val="404040"/>
        </a:accent4>
        <a:accent5>
          <a:srgbClr val="D7B3AA"/>
        </a:accent5>
        <a:accent6>
          <a:srgbClr val="BA5F00"/>
        </a:accent6>
        <a:hlink>
          <a:srgbClr val="F0A806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D87200"/>
        </a:lt2>
        <a:accent1>
          <a:srgbClr val="E29B07"/>
        </a:accent1>
        <a:accent2>
          <a:srgbClr val="EDBF03"/>
        </a:accent2>
        <a:accent3>
          <a:srgbClr val="FFFFFF"/>
        </a:accent3>
        <a:accent4>
          <a:srgbClr val="404040"/>
        </a:accent4>
        <a:accent5>
          <a:srgbClr val="EECBAA"/>
        </a:accent5>
        <a:accent6>
          <a:srgbClr val="D7AD02"/>
        </a:accent6>
        <a:hlink>
          <a:srgbClr val="7CA43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D24D06"/>
        </a:lt2>
        <a:accent1>
          <a:srgbClr val="E59709"/>
        </a:accent1>
        <a:accent2>
          <a:srgbClr val="E9AC24"/>
        </a:accent2>
        <a:accent3>
          <a:srgbClr val="FFFFFF"/>
        </a:accent3>
        <a:accent4>
          <a:srgbClr val="404040"/>
        </a:accent4>
        <a:accent5>
          <a:srgbClr val="F0C9AA"/>
        </a:accent5>
        <a:accent6>
          <a:srgbClr val="D39B20"/>
        </a:accent6>
        <a:hlink>
          <a:srgbClr val="F7B80B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CD5003"/>
        </a:lt2>
        <a:accent1>
          <a:srgbClr val="419DCF"/>
        </a:accent1>
        <a:accent2>
          <a:srgbClr val="BC1F1F"/>
        </a:accent2>
        <a:accent3>
          <a:srgbClr val="FFFFFF"/>
        </a:accent3>
        <a:accent4>
          <a:srgbClr val="404040"/>
        </a:accent4>
        <a:accent5>
          <a:srgbClr val="B0CCE4"/>
        </a:accent5>
        <a:accent6>
          <a:srgbClr val="AA1B1B"/>
        </a:accent6>
        <a:hlink>
          <a:srgbClr val="FFE42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DF2905"/>
        </a:lt2>
        <a:accent1>
          <a:srgbClr val="D05203"/>
        </a:accent1>
        <a:accent2>
          <a:srgbClr val="72A3E1"/>
        </a:accent2>
        <a:accent3>
          <a:srgbClr val="FFFFFF"/>
        </a:accent3>
        <a:accent4>
          <a:srgbClr val="404040"/>
        </a:accent4>
        <a:accent5>
          <a:srgbClr val="E4B3AA"/>
        </a:accent5>
        <a:accent6>
          <a:srgbClr val="6793CC"/>
        </a:accent6>
        <a:hlink>
          <a:srgbClr val="F3A10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Futura LT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6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utura LT Book" pitchFamily="2" charset="0"/>
            <a:ea typeface="굴림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36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Futura LT Book" pitchFamily="2" charset="0"/>
            <a:ea typeface="굴림" pitchFamily="34" charset="-127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14751</TotalTime>
  <Words>1253</Words>
  <Application>Microsoft Office PowerPoint</Application>
  <PresentationFormat>On-screen Show (4:3)</PresentationFormat>
  <Paragraphs>217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B Zar</vt:lpstr>
      <vt:lpstr>Calibri</vt:lpstr>
      <vt:lpstr>Futura LT</vt:lpstr>
      <vt:lpstr>Futura LT Book</vt:lpstr>
      <vt:lpstr>굴림</vt:lpstr>
      <vt:lpstr>Times New Roman</vt:lpstr>
      <vt:lpstr>Wingdings</vt:lpstr>
      <vt:lpstr>template</vt:lpstr>
      <vt:lpstr>Custom Design</vt:lpstr>
      <vt:lpstr>-Fe Indexes, Only Young Leaves (All trimmed wavelengths are considered, and SHAP is applied on the Train set)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PoweredTemplates.com</dc:creator>
  <cp:lastModifiedBy>Fa Hass</cp:lastModifiedBy>
  <cp:revision>786</cp:revision>
  <dcterms:created xsi:type="dcterms:W3CDTF">2006-06-29T12:15:01Z</dcterms:created>
  <dcterms:modified xsi:type="dcterms:W3CDTF">2025-06-04T14:14:29Z</dcterms:modified>
</cp:coreProperties>
</file>